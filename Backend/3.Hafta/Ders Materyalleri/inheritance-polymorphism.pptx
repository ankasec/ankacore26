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5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8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7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7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6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2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0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2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1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8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35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24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3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60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96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2/14/2026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05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2/14/2026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40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92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2/14/2026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71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67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2/14/2026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79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58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2/14/2026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50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2/14/2026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33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2/14/2026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08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807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160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916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647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95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951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78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895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872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11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56078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1297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43539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791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62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7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75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36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3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218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37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8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87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54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0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58" r:id="rId2"/>
    <p:sldLayoutId id="2147483760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gforlearning.com/2019/06/learning-java-oop-understanding-basic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4.xml"/><Relationship Id="rId4" Type="http://schemas.openxmlformats.org/officeDocument/2006/relationships/hyperlink" Target="https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snamarzook.github.io/2023/09/29/inheritance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66385/super-hero-flying-silhouette-by-laobc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gforlearning.com/2019/06/learning-java-oop-understanding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3.xml"/><Relationship Id="rId4" Type="http://schemas.openxmlformats.org/officeDocument/2006/relationships/hyperlink" Target="https://creativecommons.org/licenses/by/3.0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java-exercises/java-polymorphism-exercise-3.php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y.hsoub.com/questions/3055-%D9%85%D8%A7%D8%B0%D8%A7-%D8%AA%D8%B9%D9%86%D9%8A-final-%D9%81%D9%8A-%D8%AC%D8%A7%D9%81%D8%A7%D8%9F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ilgisayardunyam.blogspot.com/2011/08/sap-business-objects-raporlama-arac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Yer Tutucusu 4" descr="metin, ekran görüntüsü, bilgisayar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A5293A8-E11A-9AE3-3FA4-4B40D2189F6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924512" y="701039"/>
            <a:ext cx="10342976" cy="5455921"/>
          </a:xfrm>
          <a:noFill/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716C04B-0D66-2D4A-6E23-54D03AD0495F}"/>
              </a:ext>
            </a:extLst>
          </p:cNvPr>
          <p:cNvSpPr txBox="1"/>
          <p:nvPr/>
        </p:nvSpPr>
        <p:spPr>
          <a:xfrm>
            <a:off x="7405700" y="4646264"/>
            <a:ext cx="267573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tr-TR" sz="700">
                <a:solidFill>
                  <a:srgbClr val="FFFFFF"/>
                </a:solidFill>
                <a:hlinkClick r:id="rId3" tooltip="https://www.blogforlearning.com/2019/06/learning-java-oop-understanding-basi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 Fotoğraf</a:t>
            </a:r>
            <a:r>
              <a:rPr lang="tr-TR" sz="700">
                <a:solidFill>
                  <a:srgbClr val="FFFFFF"/>
                </a:solidFill>
              </a:rPr>
              <a:t>, Bilinmeyen Yazar, </a:t>
            </a:r>
            <a:r>
              <a:rPr lang="tr-TR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tr-TR" sz="700">
                <a:solidFill>
                  <a:srgbClr val="FFFFFF"/>
                </a:solidFill>
              </a:rPr>
              <a:t> altında lisanslanmıştır</a:t>
            </a:r>
          </a:p>
        </p:txBody>
      </p:sp>
    </p:spTree>
    <p:extLst>
      <p:ext uri="{BB962C8B-B14F-4D97-AF65-F5344CB8AC3E}">
        <p14:creationId xmlns:p14="http://schemas.microsoft.com/office/powerpoint/2010/main" val="294255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5935D8-2861-DEEE-0745-96B8C0B92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ctr">
            <a:normAutofit/>
          </a:bodyPr>
          <a:lstStyle/>
          <a:p>
            <a:r>
              <a:rPr lang="tr-TR"/>
              <a:t>INHERİTANCE(KALITIM)</a:t>
            </a:r>
            <a:endParaRPr lang="tr-TR" dirty="0"/>
          </a:p>
        </p:txBody>
      </p:sp>
      <p:pic>
        <p:nvPicPr>
          <p:cNvPr id="9" name="İçerik Yer Tutucusu 8" descr="metin, yazı tipi, ekran görüntüsü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95D417C-72A7-0173-3485-01E64B3C0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2647" y="2547615"/>
            <a:ext cx="7324155" cy="2929662"/>
          </a:xfrm>
          <a:noFill/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E41E0C90-0AF9-CD6C-7728-834B5D8AFBF7}"/>
              </a:ext>
            </a:extLst>
          </p:cNvPr>
          <p:cNvSpPr txBox="1"/>
          <p:nvPr/>
        </p:nvSpPr>
        <p:spPr>
          <a:xfrm>
            <a:off x="5094357" y="5277222"/>
            <a:ext cx="284244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tr-TR" sz="700">
                <a:solidFill>
                  <a:srgbClr val="FFFFFF"/>
                </a:solidFill>
                <a:hlinkClick r:id="rId3" tooltip="https://asnamarzook.github.io/2023/09/29/inheritanc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 Fotoğraf</a:t>
            </a:r>
            <a:r>
              <a:rPr lang="tr-TR" sz="700">
                <a:solidFill>
                  <a:srgbClr val="FFFFFF"/>
                </a:solidFill>
              </a:rPr>
              <a:t>, Bilinmeyen Yazar, </a:t>
            </a:r>
            <a:r>
              <a:rPr lang="tr-TR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r>
              <a:rPr lang="tr-TR" sz="700">
                <a:solidFill>
                  <a:srgbClr val="FFFFFF"/>
                </a:solidFill>
              </a:rPr>
              <a:t> altında lisanslanmıştır</a:t>
            </a:r>
          </a:p>
        </p:txBody>
      </p:sp>
    </p:spTree>
    <p:extLst>
      <p:ext uri="{BB962C8B-B14F-4D97-AF65-F5344CB8AC3E}">
        <p14:creationId xmlns:p14="http://schemas.microsoft.com/office/powerpoint/2010/main" val="269790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DC28A5-F46F-3572-26A5-357CBDE89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  Yazılımda en büyük günah </a:t>
            </a:r>
            <a:r>
              <a:rPr lang="tr-TR" b="1" dirty="0"/>
              <a:t>kod tekrarıdır</a:t>
            </a:r>
            <a:r>
              <a:rPr lang="tr-TR" dirty="0"/>
              <a:t> (</a:t>
            </a:r>
            <a:r>
              <a:rPr lang="tr-TR" dirty="0" err="1"/>
              <a:t>Don't</a:t>
            </a:r>
            <a:r>
              <a:rPr lang="tr-TR" dirty="0"/>
              <a:t> </a:t>
            </a:r>
            <a:r>
              <a:rPr lang="tr-TR" dirty="0" err="1"/>
              <a:t>Repeat</a:t>
            </a:r>
            <a:r>
              <a:rPr lang="tr-TR" dirty="0"/>
              <a:t> Yourself - DRY). Eğer birden fazla sınıfın (</a:t>
            </a:r>
            <a:r>
              <a:rPr lang="tr-TR" dirty="0" err="1"/>
              <a:t>class</a:t>
            </a:r>
            <a:r>
              <a:rPr lang="tr-TR" dirty="0"/>
              <a:t>) ortak özellikleri ve davranışları varsa, bunları her sınıfa tek tek yazmak yerine </a:t>
            </a:r>
            <a:r>
              <a:rPr lang="tr-TR" b="1" dirty="0"/>
              <a:t>bir "Ata Sınıf" (</a:t>
            </a:r>
            <a:r>
              <a:rPr lang="tr-TR" b="1" dirty="0" err="1"/>
              <a:t>Superclass</a:t>
            </a:r>
            <a:r>
              <a:rPr lang="tr-TR" b="1" dirty="0"/>
              <a:t>)</a:t>
            </a:r>
            <a:r>
              <a:rPr lang="tr-TR" dirty="0"/>
              <a:t> oluştururuz. Diğer sınıflar bu ata sınıfın özelliklerini </a:t>
            </a:r>
            <a:r>
              <a:rPr lang="tr-TR" b="1" dirty="0"/>
              <a:t>miras alır</a:t>
            </a:r>
            <a:r>
              <a:rPr lang="tr-TR" dirty="0"/>
              <a:t>. Bu sayede kodumuz temiz, yönetilebilir ve gelişime açık olur.</a:t>
            </a:r>
          </a:p>
        </p:txBody>
      </p:sp>
    </p:spTree>
    <p:extLst>
      <p:ext uri="{BB962C8B-B14F-4D97-AF65-F5344CB8AC3E}">
        <p14:creationId xmlns:p14="http://schemas.microsoft.com/office/powerpoint/2010/main" val="114115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A4661A0-37C0-A303-E8B0-A40CAF3F3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2168434"/>
            <a:ext cx="2686353" cy="2521132"/>
          </a:xfrm>
        </p:spPr>
        <p:txBody>
          <a:bodyPr/>
          <a:lstStyle/>
          <a:p>
            <a:r>
              <a:rPr lang="en-US" dirty="0"/>
              <a:t>super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Kelimesi</a:t>
            </a:r>
            <a:endParaRPr lang="en-US" dirty="0"/>
          </a:p>
        </p:txBody>
      </p:sp>
      <p:pic>
        <p:nvPicPr>
          <p:cNvPr id="6" name="Resim Yer Tutucusu 5" descr="kırpıntı çizim, grafik, simge, sembol, yaratıcı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8200368-003D-AB75-DEB7-AA90D2CA5DA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04268" y="1020190"/>
            <a:ext cx="7315200" cy="4864607"/>
          </a:xfrm>
          <a:noFill/>
        </p:spPr>
      </p:pic>
    </p:spTree>
    <p:extLst>
      <p:ext uri="{BB962C8B-B14F-4D97-AF65-F5344CB8AC3E}">
        <p14:creationId xmlns:p14="http://schemas.microsoft.com/office/powerpoint/2010/main" val="45472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B1135C-BD8F-D526-E36C-171111EE6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  Java'da </a:t>
            </a:r>
            <a:r>
              <a:rPr lang="tr-TR" dirty="0" err="1"/>
              <a:t>this</a:t>
            </a:r>
            <a:r>
              <a:rPr lang="tr-TR" dirty="0"/>
              <a:t> kelimesi "Benim kendi içimdeki özelliklerim" demekse, </a:t>
            </a:r>
            <a:r>
              <a:rPr lang="tr-TR" b="1" dirty="0" err="1"/>
              <a:t>super</a:t>
            </a:r>
            <a:r>
              <a:rPr lang="tr-TR" b="1" dirty="0"/>
              <a:t> kelimesi "Ata sınıfımın (</a:t>
            </a:r>
            <a:r>
              <a:rPr lang="tr-TR" b="1" dirty="0" err="1"/>
              <a:t>Superclass</a:t>
            </a:r>
            <a:r>
              <a:rPr lang="tr-TR" b="1" dirty="0"/>
              <a:t>) özellikleri" demektir.</a:t>
            </a:r>
            <a:r>
              <a:rPr lang="tr-TR" dirty="0"/>
              <a:t> Alt sınıftan (çocuktan), üst sınıfa (ebeveyne) çekilmiş doğrudan bir iletişim hattıdır.</a:t>
            </a:r>
          </a:p>
          <a:p>
            <a:r>
              <a:rPr lang="tr-TR" dirty="0"/>
              <a:t>Java'da </a:t>
            </a:r>
            <a:r>
              <a:rPr lang="tr-TR" dirty="0" err="1"/>
              <a:t>super</a:t>
            </a:r>
            <a:r>
              <a:rPr lang="tr-TR" dirty="0"/>
              <a:t> anahtar kelimesinin hayat kurtaran </a:t>
            </a:r>
            <a:r>
              <a:rPr lang="tr-TR" b="1" dirty="0"/>
              <a:t>3 temel işlevi</a:t>
            </a:r>
            <a:r>
              <a:rPr lang="tr-TR" dirty="0"/>
              <a:t> vardır:</a:t>
            </a:r>
          </a:p>
          <a:p>
            <a:r>
              <a:rPr lang="tr-TR" b="1" dirty="0"/>
              <a:t>1. Ata Sınıfın Yapıcı Metodunu (</a:t>
            </a:r>
            <a:r>
              <a:rPr lang="tr-TR" b="1" dirty="0" err="1"/>
              <a:t>Constructor</a:t>
            </a:r>
            <a:r>
              <a:rPr lang="tr-TR" b="1" dirty="0"/>
              <a:t>) Çağırmak (En Sık Kullanım)</a:t>
            </a:r>
          </a:p>
          <a:p>
            <a:r>
              <a:rPr lang="tr-TR" dirty="0"/>
              <a:t>Bir alt sınıf (örneğin Admin) oluşturulduğunda, hafızada önce onun ata sınıfı (örneğin </a:t>
            </a:r>
            <a:r>
              <a:rPr lang="tr-TR" dirty="0" err="1"/>
              <a:t>Kullanici</a:t>
            </a:r>
            <a:r>
              <a:rPr lang="tr-TR" dirty="0"/>
              <a:t>) inşa edilmek zorundadır. Çatı olmadan kat çıkılmaz! Alt sınıf, üst sınıfın yapıcı metodunu çağırmak için </a:t>
            </a:r>
            <a:r>
              <a:rPr lang="tr-TR" dirty="0" err="1"/>
              <a:t>super</a:t>
            </a:r>
            <a:r>
              <a:rPr lang="tr-TR" dirty="0"/>
              <a:t>() komutunu kullanır.</a:t>
            </a:r>
          </a:p>
          <a:p>
            <a:r>
              <a:rPr lang="tr-TR" b="1" dirty="0"/>
              <a:t>Altın Kural:</a:t>
            </a:r>
            <a:r>
              <a:rPr lang="tr-TR" dirty="0"/>
              <a:t> </a:t>
            </a:r>
            <a:r>
              <a:rPr lang="tr-TR" dirty="0" err="1"/>
              <a:t>super</a:t>
            </a:r>
            <a:r>
              <a:rPr lang="tr-TR" dirty="0"/>
              <a:t>() komutu, alt sınıfın yapıcı metodunun </a:t>
            </a:r>
            <a:r>
              <a:rPr lang="tr-TR" b="1" dirty="0"/>
              <a:t>her zaman ilk satırında</a:t>
            </a:r>
            <a:r>
              <a:rPr lang="tr-TR" dirty="0"/>
              <a:t> olmak zorundadır.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240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C57DF1-72BD-617D-6A91-D87E73B47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2. Ezilmiş (</a:t>
            </a:r>
            <a:r>
              <a:rPr lang="tr-TR" b="1" dirty="0" err="1"/>
              <a:t>Overridden</a:t>
            </a:r>
            <a:r>
              <a:rPr lang="tr-TR" b="1" dirty="0"/>
              <a:t>) Bir Metodun Orijinaline Ulaşmak</a:t>
            </a:r>
          </a:p>
          <a:p>
            <a:r>
              <a:rPr lang="tr-TR" dirty="0"/>
              <a:t>Diyelim ki ata sınıfta bir hesapla() metodu var. Siz alt sınıfta bu metodu ezdiniz (</a:t>
            </a:r>
            <a:r>
              <a:rPr lang="tr-TR" dirty="0" err="1"/>
              <a:t>Override</a:t>
            </a:r>
            <a:r>
              <a:rPr lang="tr-TR" dirty="0"/>
              <a:t> ettiniz) ve kendi kurallarınızı yazdınız. Ancak kodunuzun bir yerinde ata sınıfın o eski, orijinal hesapla() metoduna ihtiyacınız oldu. İşte o zaman </a:t>
            </a:r>
            <a:r>
              <a:rPr lang="tr-TR" b="1" dirty="0" err="1"/>
              <a:t>super.hesapla</a:t>
            </a:r>
            <a:r>
              <a:rPr lang="tr-TR" b="1" dirty="0"/>
              <a:t>()</a:t>
            </a:r>
            <a:r>
              <a:rPr lang="tr-TR" dirty="0"/>
              <a:t> diyerek ebeveynin orijinal versiyonunu çağırabilirsiniz.</a:t>
            </a:r>
          </a:p>
          <a:p>
            <a:r>
              <a:rPr lang="tr-TR" b="1" dirty="0"/>
              <a:t>3. Ata Sınıfın Değişkenlerine Ulaşmak (</a:t>
            </a:r>
            <a:r>
              <a:rPr lang="tr-TR" b="1" dirty="0" err="1"/>
              <a:t>Hidden</a:t>
            </a:r>
            <a:r>
              <a:rPr lang="tr-TR" b="1" dirty="0"/>
              <a:t> </a:t>
            </a:r>
            <a:r>
              <a:rPr lang="tr-TR" b="1" dirty="0" err="1"/>
              <a:t>Fields</a:t>
            </a:r>
            <a:r>
              <a:rPr lang="tr-TR" b="1" dirty="0"/>
              <a:t>)</a:t>
            </a:r>
          </a:p>
          <a:p>
            <a:r>
              <a:rPr lang="tr-TR" dirty="0"/>
              <a:t>Çok tavsiye edilmeyen ama bilinmesi gereken bir durumdur. Eğer alt sınıfta, ata sınıftakiyle </a:t>
            </a:r>
            <a:r>
              <a:rPr lang="tr-TR" b="1" dirty="0"/>
              <a:t>birebir aynı isimde</a:t>
            </a:r>
            <a:r>
              <a:rPr lang="tr-TR" dirty="0"/>
              <a:t> bir değişken tanımlarsanız (örneğin her ikisinde de </a:t>
            </a:r>
            <a:r>
              <a:rPr lang="tr-TR" dirty="0" err="1"/>
              <a:t>int</a:t>
            </a:r>
            <a:r>
              <a:rPr lang="tr-TR" dirty="0"/>
              <a:t> </a:t>
            </a:r>
            <a:r>
              <a:rPr lang="tr-TR" dirty="0" err="1"/>
              <a:t>maas</a:t>
            </a:r>
            <a:r>
              <a:rPr lang="tr-TR" dirty="0"/>
              <a:t>; varsa), alt sınıftaki değişken ata sınıftakini gölgeler (saklar). Ata sınıftaki asıl değere ulaşmak için </a:t>
            </a:r>
            <a:r>
              <a:rPr lang="tr-TR" b="1" dirty="0" err="1"/>
              <a:t>super.maas</a:t>
            </a:r>
            <a:r>
              <a:rPr lang="tr-TR" dirty="0"/>
              <a:t> yazmanız gerekir.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1667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9CF161-3238-4BAE-1A50-E60EB963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01" y="5175504"/>
            <a:ext cx="5897880" cy="1353312"/>
          </a:xfrm>
        </p:spPr>
        <p:txBody>
          <a:bodyPr/>
          <a:lstStyle/>
          <a:p>
            <a:r>
              <a:rPr lang="en-US" dirty="0"/>
              <a:t>Method Overriding</a:t>
            </a:r>
          </a:p>
        </p:txBody>
      </p:sp>
      <p:pic>
        <p:nvPicPr>
          <p:cNvPr id="6" name="Resim Yer Tutucusu 5" descr="metin, yazı tipi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E08B00D-9A68-E63E-A122-6EC9361B15C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63221" y="603503"/>
            <a:ext cx="9379045" cy="4334256"/>
          </a:xfrm>
          <a:noFill/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3BA569B7-2080-26D0-9368-984AF4733CFF}"/>
              </a:ext>
            </a:extLst>
          </p:cNvPr>
          <p:cNvSpPr txBox="1"/>
          <p:nvPr/>
        </p:nvSpPr>
        <p:spPr>
          <a:xfrm>
            <a:off x="7966534" y="4737704"/>
            <a:ext cx="267573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tr-TR" sz="700">
                <a:solidFill>
                  <a:srgbClr val="FFFFFF"/>
                </a:solidFill>
                <a:hlinkClick r:id="rId3" tooltip="https://www.blogforlearning.com/2019/06/learning-java-oop-understanding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 Fotoğraf</a:t>
            </a:r>
            <a:r>
              <a:rPr lang="tr-TR" sz="700">
                <a:solidFill>
                  <a:srgbClr val="FFFFFF"/>
                </a:solidFill>
              </a:rPr>
              <a:t>, Bilinmeyen Yazar, </a:t>
            </a:r>
            <a:r>
              <a:rPr lang="tr-TR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tr-TR" sz="700">
                <a:solidFill>
                  <a:srgbClr val="FFFFFF"/>
                </a:solidFill>
              </a:rPr>
              <a:t> altında lisanslanmıştır</a:t>
            </a:r>
          </a:p>
        </p:txBody>
      </p:sp>
    </p:spTree>
    <p:extLst>
      <p:ext uri="{BB962C8B-B14F-4D97-AF65-F5344CB8AC3E}">
        <p14:creationId xmlns:p14="http://schemas.microsoft.com/office/powerpoint/2010/main" val="1881203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1C6051-3B56-8D8C-596C-2CC9BDF95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 Üst sınıfta (</a:t>
            </a:r>
            <a:r>
              <a:rPr lang="tr-TR" b="1" dirty="0" err="1"/>
              <a:t>Superclass</a:t>
            </a:r>
            <a:r>
              <a:rPr lang="tr-TR" b="1" dirty="0"/>
              <a:t>) zaten var olan bir metodun, alt sınıfta (</a:t>
            </a:r>
            <a:r>
              <a:rPr lang="tr-TR" b="1" dirty="0" err="1"/>
              <a:t>Subclass</a:t>
            </a:r>
            <a:r>
              <a:rPr lang="tr-TR" b="1" dirty="0"/>
              <a:t>) aynı isim ve parametrelerle yeniden yazılmasıdır.</a:t>
            </a:r>
          </a:p>
          <a:p>
            <a:r>
              <a:rPr lang="tr-TR" dirty="0"/>
              <a:t>Metodu eziyorsanız, üst sınıftaki metodun </a:t>
            </a:r>
            <a:r>
              <a:rPr lang="tr-TR" b="1" dirty="0"/>
              <a:t>imzasına (</a:t>
            </a:r>
            <a:r>
              <a:rPr lang="tr-TR" b="1" dirty="0" err="1"/>
              <a:t>Method</a:t>
            </a:r>
            <a:r>
              <a:rPr lang="tr-TR" b="1" dirty="0"/>
              <a:t> </a:t>
            </a:r>
            <a:r>
              <a:rPr lang="tr-TR" b="1" dirty="0" err="1"/>
              <a:t>Signature</a:t>
            </a:r>
            <a:r>
              <a:rPr lang="tr-TR" b="1" dirty="0"/>
              <a:t>)</a:t>
            </a:r>
            <a:r>
              <a:rPr lang="tr-TR" dirty="0"/>
              <a:t> sadık kalmak zorundasınız.</a:t>
            </a:r>
          </a:p>
          <a:p>
            <a:r>
              <a:rPr lang="tr-TR" dirty="0"/>
              <a:t>Metodun </a:t>
            </a:r>
            <a:r>
              <a:rPr lang="tr-TR" b="1" dirty="0"/>
              <a:t>ismi</a:t>
            </a:r>
            <a:r>
              <a:rPr lang="tr-TR" dirty="0"/>
              <a:t> tamamen aynı olmalı.</a:t>
            </a:r>
          </a:p>
          <a:p>
            <a:r>
              <a:rPr lang="tr-TR" dirty="0"/>
              <a:t>Metodun aldığı </a:t>
            </a:r>
            <a:r>
              <a:rPr lang="tr-TR" b="1" dirty="0"/>
              <a:t>parametreler</a:t>
            </a:r>
            <a:r>
              <a:rPr lang="tr-TR" dirty="0"/>
              <a:t> (sayısı ve türü) tamamen aynı olmalı.</a:t>
            </a:r>
          </a:p>
          <a:p>
            <a:r>
              <a:rPr lang="tr-TR" dirty="0"/>
              <a:t>Döndürdüğü değer (Return </a:t>
            </a:r>
            <a:r>
              <a:rPr lang="tr-TR" dirty="0" err="1"/>
              <a:t>Type</a:t>
            </a:r>
            <a:r>
              <a:rPr lang="tr-TR" dirty="0"/>
              <a:t>) aynı olmalı.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73092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D6FD06-4486-8C39-284A-B40EB2A1F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kod: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E73A9D-1811-52B1-DACD-2FB736EBD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BankaKarti</a:t>
            </a:r>
            <a:r>
              <a:rPr lang="tr-TR" dirty="0"/>
              <a:t> {</a:t>
            </a:r>
          </a:p>
          <a:p>
            <a:r>
              <a:rPr lang="tr-TR" dirty="0"/>
              <a:t>    </a:t>
            </a:r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ucretKes</a:t>
            </a:r>
            <a:r>
              <a:rPr lang="tr-TR" dirty="0"/>
              <a:t>() {</a:t>
            </a:r>
          </a:p>
          <a:p>
            <a:r>
              <a:rPr lang="tr-TR" dirty="0"/>
              <a:t>        </a:t>
            </a:r>
            <a:r>
              <a:rPr lang="tr-TR" dirty="0" err="1"/>
              <a:t>System.out.println</a:t>
            </a:r>
            <a:r>
              <a:rPr lang="tr-TR" dirty="0"/>
              <a:t>("Yıllık 100 TL kart ücreti kesildi.");</a:t>
            </a:r>
          </a:p>
          <a:p>
            <a:r>
              <a:rPr lang="tr-TR" dirty="0"/>
              <a:t>    }</a:t>
            </a:r>
          </a:p>
          <a:p>
            <a:r>
              <a:rPr lang="tr-TR" dirty="0"/>
              <a:t>}</a:t>
            </a:r>
          </a:p>
          <a:p>
            <a:endParaRPr lang="tr-TR" dirty="0"/>
          </a:p>
          <a:p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PlatinumKart</a:t>
            </a:r>
            <a:r>
              <a:rPr lang="tr-TR" dirty="0"/>
              <a:t> </a:t>
            </a:r>
            <a:r>
              <a:rPr lang="tr-TR" dirty="0" err="1"/>
              <a:t>extends</a:t>
            </a:r>
            <a:r>
              <a:rPr lang="tr-TR" dirty="0"/>
              <a:t> </a:t>
            </a:r>
            <a:r>
              <a:rPr lang="tr-TR" dirty="0" err="1"/>
              <a:t>BankaKarti</a:t>
            </a:r>
            <a:r>
              <a:rPr lang="tr-TR" dirty="0"/>
              <a:t> {</a:t>
            </a:r>
          </a:p>
          <a:p>
            <a:r>
              <a:rPr lang="tr-TR" dirty="0"/>
              <a:t>    @Override</a:t>
            </a:r>
          </a:p>
          <a:p>
            <a:r>
              <a:rPr lang="tr-TR" dirty="0"/>
              <a:t>    </a:t>
            </a:r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ucretKes</a:t>
            </a:r>
            <a:r>
              <a:rPr lang="tr-TR" dirty="0"/>
              <a:t>() {</a:t>
            </a:r>
          </a:p>
          <a:p>
            <a:r>
              <a:rPr lang="tr-TR" dirty="0"/>
              <a:t>        // Ata sınıfın metodunu ezdik, VIP müşteriden ücret almıyoruz!</a:t>
            </a:r>
          </a:p>
          <a:p>
            <a:r>
              <a:rPr lang="tr-TR" dirty="0"/>
              <a:t>        </a:t>
            </a:r>
            <a:r>
              <a:rPr lang="tr-TR" dirty="0" err="1"/>
              <a:t>System.out.println</a:t>
            </a:r>
            <a:r>
              <a:rPr lang="tr-TR" dirty="0"/>
              <a:t>("Platinum üyelerden yıllık kart ücreti alınmaz.");</a:t>
            </a:r>
          </a:p>
          <a:p>
            <a:r>
              <a:rPr lang="tr-TR" dirty="0"/>
              <a:t>    }</a:t>
            </a:r>
          </a:p>
          <a:p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996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1AD24B-581C-D5B8-51BE-24ECE1BCC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Java'nın katı kuralları vardır, her şeyi ezmenize izin vermez:</a:t>
            </a:r>
          </a:p>
          <a:p>
            <a:r>
              <a:rPr lang="tr-TR" b="1" dirty="0" err="1"/>
              <a:t>private</a:t>
            </a:r>
            <a:r>
              <a:rPr lang="tr-TR" b="1" dirty="0"/>
              <a:t> Metotlar:</a:t>
            </a:r>
            <a:r>
              <a:rPr lang="tr-TR" dirty="0"/>
              <a:t> Zaten sadece kendi sınıfında görünür oldukları için alt sınıftan erişilemez ve ezilemezler.</a:t>
            </a:r>
          </a:p>
          <a:p>
            <a:r>
              <a:rPr lang="tr-TR" b="1" dirty="0" err="1"/>
              <a:t>static</a:t>
            </a:r>
            <a:r>
              <a:rPr lang="tr-TR" b="1" dirty="0"/>
              <a:t> Metotlar:</a:t>
            </a:r>
            <a:r>
              <a:rPr lang="tr-TR" dirty="0"/>
              <a:t> Sınıfa aittirler, nesneye değil. Alt sınıfta aynı isimde yazarsanız ezmiş (</a:t>
            </a:r>
            <a:r>
              <a:rPr lang="tr-TR" dirty="0" err="1"/>
              <a:t>Override</a:t>
            </a:r>
            <a:r>
              <a:rPr lang="tr-TR" dirty="0"/>
              <a:t>) olmazsınız, gizlemiş (</a:t>
            </a:r>
            <a:r>
              <a:rPr lang="tr-TR" dirty="0" err="1"/>
              <a:t>Method</a:t>
            </a:r>
            <a:r>
              <a:rPr lang="tr-TR" dirty="0"/>
              <a:t> </a:t>
            </a:r>
            <a:r>
              <a:rPr lang="tr-TR" dirty="0" err="1"/>
              <a:t>Hiding</a:t>
            </a:r>
            <a:r>
              <a:rPr lang="tr-TR" dirty="0"/>
              <a:t>) olursunuz.</a:t>
            </a:r>
          </a:p>
          <a:p>
            <a:r>
              <a:rPr lang="tr-TR" b="1" dirty="0"/>
              <a:t>final Metotlar:</a:t>
            </a:r>
            <a:r>
              <a:rPr lang="tr-TR" dirty="0"/>
              <a:t> Adı üstünde "</a:t>
            </a:r>
            <a:r>
              <a:rPr lang="tr-TR" dirty="0" err="1"/>
              <a:t>Nihai"dir</a:t>
            </a:r>
            <a:r>
              <a:rPr lang="tr-TR" dirty="0"/>
              <a:t>. Ata sınıf </a:t>
            </a:r>
            <a:r>
              <a:rPr lang="tr-TR" i="1" dirty="0"/>
              <a:t>"Ben bu metodu mükemmel yazdım, kimse değiştiremez"</a:t>
            </a:r>
            <a:r>
              <a:rPr lang="tr-TR" dirty="0"/>
              <a:t> diyerek final kelimesini koyduysa, o metodu asla ezemezsiniz.</a:t>
            </a:r>
          </a:p>
          <a:p>
            <a:r>
              <a:rPr lang="tr-TR" b="1" dirty="0"/>
              <a:t>Kısa Bir Örnek: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3730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B106DC6-F4BE-313B-EDC0-B2BA546D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/>
          <a:lstStyle/>
          <a:p>
            <a:r>
              <a:rPr lang="en-US" dirty="0"/>
              <a:t>Polymorphism (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Biçimlilik</a:t>
            </a:r>
            <a:r>
              <a:rPr lang="en-US" dirty="0"/>
              <a:t>)</a:t>
            </a:r>
          </a:p>
        </p:txBody>
      </p:sp>
      <p:pic>
        <p:nvPicPr>
          <p:cNvPr id="6" name="Resim Yer Tutucusu 5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4394A7F-8C5A-B113-916A-4A8B512CD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13832" y="1715532"/>
            <a:ext cx="6451209" cy="4593828"/>
          </a:xfrm>
          <a:noFill/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2E00558F-925F-F3E2-F3A2-D53E85A8E16F}"/>
              </a:ext>
            </a:extLst>
          </p:cNvPr>
          <p:cNvSpPr txBox="1"/>
          <p:nvPr/>
        </p:nvSpPr>
        <p:spPr>
          <a:xfrm>
            <a:off x="6322596" y="6109305"/>
            <a:ext cx="284244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tr-TR" sz="700">
                <a:solidFill>
                  <a:srgbClr val="FFFFFF"/>
                </a:solidFill>
                <a:hlinkClick r:id="rId3" tooltip="https://www.w3resource.com/java-exercises/java-polymorphism-exercise-3.ph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 Fotoğraf</a:t>
            </a:r>
            <a:r>
              <a:rPr lang="tr-TR" sz="700">
                <a:solidFill>
                  <a:srgbClr val="FFFFFF"/>
                </a:solidFill>
              </a:rPr>
              <a:t>, Bilinmeyen Yazar, </a:t>
            </a:r>
            <a:r>
              <a:rPr lang="tr-TR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r>
              <a:rPr lang="tr-TR" sz="700">
                <a:solidFill>
                  <a:srgbClr val="FFFFFF"/>
                </a:solidFill>
              </a:rPr>
              <a:t> altında lisanslanmıştır</a:t>
            </a:r>
          </a:p>
        </p:txBody>
      </p:sp>
    </p:spTree>
    <p:extLst>
      <p:ext uri="{BB962C8B-B14F-4D97-AF65-F5344CB8AC3E}">
        <p14:creationId xmlns:p14="http://schemas.microsoft.com/office/powerpoint/2010/main" val="319918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5DA8A1-7EBE-6A06-2732-F3A5012F5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Çok biçimlilik , nesnelerin  aynı olaya farklı tepkiler verebilme yeteneği, başka bir tanıma göre ise, bir nesnenin davranış şekillerini duruma göre değiştirebilme yeteneğidir.</a:t>
            </a:r>
          </a:p>
          <a:p>
            <a:r>
              <a:rPr lang="tr-TR" dirty="0"/>
              <a:t>Çok </a:t>
            </a:r>
            <a:r>
              <a:rPr lang="tr-TR" dirty="0" err="1"/>
              <a:t>biçimlilik,aralarında</a:t>
            </a:r>
            <a:r>
              <a:rPr lang="tr-TR" dirty="0"/>
              <a:t> kalıtım ilişkisi bulunan üst ve alt  sınıflarda tanımlanan ortak işlevler üzerine inşa edilir. Bu yapıda ortak fonksiyonun alt ve üst sınıflarda içeriği farklı tanımlanır.</a:t>
            </a:r>
          </a:p>
        </p:txBody>
      </p:sp>
    </p:spTree>
    <p:extLst>
      <p:ext uri="{BB962C8B-B14F-4D97-AF65-F5344CB8AC3E}">
        <p14:creationId xmlns:p14="http://schemas.microsoft.com/office/powerpoint/2010/main" val="2628590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B46E9F-D4C7-139E-1AC6-BD31AB0E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kod: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AB65BA-8E8D-D13D-BF37-FF5178CF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// Ata Sınıf</a:t>
            </a:r>
          </a:p>
          <a:p>
            <a:r>
              <a:rPr lang="tr-TR" dirty="0" err="1"/>
              <a:t>BankaKarti</a:t>
            </a:r>
            <a:r>
              <a:rPr lang="tr-TR" dirty="0"/>
              <a:t> kart1 =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BankaKarti</a:t>
            </a:r>
            <a:r>
              <a:rPr lang="tr-TR" dirty="0"/>
              <a:t>();</a:t>
            </a:r>
          </a:p>
          <a:p>
            <a:r>
              <a:rPr lang="tr-TR" dirty="0"/>
              <a:t>// Alt Sınıf ama Ata referansıyla tutuluyor (</a:t>
            </a:r>
            <a:r>
              <a:rPr lang="tr-TR" dirty="0" err="1"/>
              <a:t>Polymorphism</a:t>
            </a:r>
            <a:r>
              <a:rPr lang="tr-TR" dirty="0"/>
              <a:t>!)</a:t>
            </a:r>
          </a:p>
          <a:p>
            <a:r>
              <a:rPr lang="tr-TR" dirty="0" err="1"/>
              <a:t>BankaKarti</a:t>
            </a:r>
            <a:r>
              <a:rPr lang="tr-TR" dirty="0"/>
              <a:t> kart2 =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PlatinumKart</a:t>
            </a:r>
            <a:r>
              <a:rPr lang="tr-TR" dirty="0"/>
              <a:t>(); </a:t>
            </a:r>
          </a:p>
          <a:p>
            <a:endParaRPr lang="tr-TR" dirty="0"/>
          </a:p>
          <a:p>
            <a:r>
              <a:rPr lang="tr-TR" dirty="0"/>
              <a:t>kart1.ucretKes(); // Çıktı: "100 TL kesildi."</a:t>
            </a:r>
          </a:p>
          <a:p>
            <a:r>
              <a:rPr lang="tr-TR" dirty="0"/>
              <a:t>kart2.ucretKes(); // Çıktı: "Ücret alınmaz!" (Çünkü özünde o bir </a:t>
            </a:r>
            <a:r>
              <a:rPr lang="tr-TR" dirty="0" err="1"/>
              <a:t>PlatinumKart</a:t>
            </a:r>
            <a:r>
              <a:rPr lang="tr-T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921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9C97C47-E35E-FAC9-FC84-5CBA4AB44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/>
          <a:lstStyle/>
          <a:p>
            <a:r>
              <a:rPr lang="en-US" dirty="0"/>
              <a:t>final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Kelimesi</a:t>
            </a:r>
            <a:endParaRPr lang="en-US" dirty="0"/>
          </a:p>
        </p:txBody>
      </p:sp>
      <p:pic>
        <p:nvPicPr>
          <p:cNvPr id="6" name="Resim Yer Tutucusu 5" descr="metin, yazı tipi, çizg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B086A7D-ABD6-414C-53A0-C936C8778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2647" y="2041535"/>
            <a:ext cx="10653579" cy="3941822"/>
          </a:xfrm>
          <a:noFill/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F8A3884F-CEA8-E041-E52E-E89671D5D8A2}"/>
              </a:ext>
            </a:extLst>
          </p:cNvPr>
          <p:cNvSpPr txBox="1"/>
          <p:nvPr/>
        </p:nvSpPr>
        <p:spPr>
          <a:xfrm>
            <a:off x="8266687" y="5783302"/>
            <a:ext cx="299953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tr-TR" sz="700">
                <a:solidFill>
                  <a:srgbClr val="FFFFFF"/>
                </a:solidFill>
                <a:hlinkClick r:id="rId3" tooltip="https://academy.hsoub.com/questions/3055-%D9%85%D8%A7%D8%B0%D8%A7-%D8%AA%D8%B9%D9%86%D9%8A-final-%D9%81%D9%8A-%D8%AC%D8%A7%D9%81%D8%A7%D8%9F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 Fotoğraf</a:t>
            </a:r>
            <a:r>
              <a:rPr lang="tr-TR" sz="700">
                <a:solidFill>
                  <a:srgbClr val="FFFFFF"/>
                </a:solidFill>
              </a:rPr>
              <a:t>, Bilinmeyen Yazar, </a:t>
            </a:r>
            <a:r>
              <a:rPr lang="tr-TR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r>
              <a:rPr lang="tr-TR" sz="700">
                <a:solidFill>
                  <a:srgbClr val="FFFFFF"/>
                </a:solidFill>
              </a:rPr>
              <a:t> altında lisanslanmıştır</a:t>
            </a:r>
          </a:p>
        </p:txBody>
      </p:sp>
    </p:spTree>
    <p:extLst>
      <p:ext uri="{BB962C8B-B14F-4D97-AF65-F5344CB8AC3E}">
        <p14:creationId xmlns:p14="http://schemas.microsoft.com/office/powerpoint/2010/main" val="164295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E999C8-335A-529B-A25F-818D4832C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 değişkenin (</a:t>
            </a:r>
            <a:r>
              <a:rPr lang="tr-TR" dirty="0" err="1"/>
              <a:t>variable</a:t>
            </a:r>
            <a:r>
              <a:rPr lang="tr-TR" dirty="0"/>
              <a:t>) başına final koyarsanız, o değişken bir </a:t>
            </a:r>
            <a:r>
              <a:rPr lang="tr-TR" b="1" dirty="0"/>
              <a:t>sabite (</a:t>
            </a:r>
            <a:r>
              <a:rPr lang="tr-TR" b="1" dirty="0" err="1"/>
              <a:t>constant</a:t>
            </a:r>
            <a:r>
              <a:rPr lang="tr-TR" b="1" dirty="0"/>
              <a:t>)</a:t>
            </a:r>
            <a:r>
              <a:rPr lang="tr-TR" dirty="0"/>
              <a:t> dönüşür. İçine bir kez değer atandıktan sonra, programın hiçbir yerinde o değer bir daha </a:t>
            </a:r>
            <a:r>
              <a:rPr lang="tr-TR" b="1" dirty="0"/>
              <a:t>değiştirilemez.</a:t>
            </a:r>
          </a:p>
          <a:p>
            <a:r>
              <a:rPr lang="tr-TR" dirty="0"/>
              <a:t>Bir sınıfın (Class) başına final koyarsanız, o sınıf </a:t>
            </a:r>
            <a:r>
              <a:rPr lang="tr-TR" b="1" dirty="0"/>
              <a:t>asla miras alınamaz (</a:t>
            </a:r>
            <a:r>
              <a:rPr lang="tr-TR" b="1" dirty="0" err="1"/>
              <a:t>extends</a:t>
            </a:r>
            <a:r>
              <a:rPr lang="tr-TR" b="1" dirty="0"/>
              <a:t> edilemez).</a:t>
            </a:r>
            <a:r>
              <a:rPr lang="tr-TR" dirty="0"/>
              <a:t> Soy ağacının son yaprağıdır, ondan alt sınıf (</a:t>
            </a:r>
            <a:r>
              <a:rPr lang="tr-TR" dirty="0" err="1"/>
              <a:t>subclass</a:t>
            </a:r>
            <a:r>
              <a:rPr lang="tr-TR" dirty="0"/>
              <a:t>) türetilemez.</a:t>
            </a:r>
          </a:p>
          <a:p>
            <a:r>
              <a:rPr lang="tr-TR" dirty="0"/>
              <a:t>Bir </a:t>
            </a:r>
            <a:r>
              <a:rPr lang="tr-TR" dirty="0" err="1"/>
              <a:t>metod</a:t>
            </a:r>
            <a:r>
              <a:rPr lang="tr-TR" dirty="0"/>
              <a:t>  başına final koyarsanız miras alıp kullanabilirsiniz ama onu </a:t>
            </a:r>
            <a:r>
              <a:rPr lang="tr-TR" b="1" dirty="0"/>
              <a:t>asla </a:t>
            </a:r>
            <a:r>
              <a:rPr lang="tr-TR" dirty="0"/>
              <a:t>ezemezsiniz.</a:t>
            </a:r>
          </a:p>
        </p:txBody>
      </p:sp>
    </p:spTree>
    <p:extLst>
      <p:ext uri="{BB962C8B-B14F-4D97-AF65-F5344CB8AC3E}">
        <p14:creationId xmlns:p14="http://schemas.microsoft.com/office/powerpoint/2010/main" val="1197147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D8D207-C1AF-10E5-D94E-94CA1811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/>
          <a:lstStyle/>
          <a:p>
            <a:r>
              <a:rPr lang="en-US" dirty="0"/>
              <a:t> Object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Temel </a:t>
            </a:r>
            <a:r>
              <a:rPr lang="en-US" dirty="0" err="1"/>
              <a:t>Metodlar</a:t>
            </a:r>
            <a:endParaRPr lang="en-US" dirty="0"/>
          </a:p>
        </p:txBody>
      </p:sp>
      <p:pic>
        <p:nvPicPr>
          <p:cNvPr id="6" name="Resim Yer Tutucusu 5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F5B65E-5A65-8EA2-FDD4-FB5618BDA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68567" y="1715532"/>
            <a:ext cx="8141739" cy="4593828"/>
          </a:xfrm>
          <a:noFill/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700495E2-211C-F957-0E02-1EB7DF9602F8}"/>
              </a:ext>
            </a:extLst>
          </p:cNvPr>
          <p:cNvSpPr txBox="1"/>
          <p:nvPr/>
        </p:nvSpPr>
        <p:spPr>
          <a:xfrm>
            <a:off x="7002752" y="6109305"/>
            <a:ext cx="300755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tr-TR" sz="700">
                <a:solidFill>
                  <a:srgbClr val="FFFFFF"/>
                </a:solidFill>
                <a:hlinkClick r:id="rId3" tooltip="https://bilgisayardunyam.blogspot.com/2011/08/sap-business-objects-raporlama-ar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 Fotoğraf</a:t>
            </a:r>
            <a:r>
              <a:rPr lang="tr-TR" sz="700">
                <a:solidFill>
                  <a:srgbClr val="FFFFFF"/>
                </a:solidFill>
              </a:rPr>
              <a:t>, Bilinmeyen Yazar, </a:t>
            </a:r>
            <a:r>
              <a:rPr lang="tr-TR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r>
              <a:rPr lang="tr-TR" sz="700">
                <a:solidFill>
                  <a:srgbClr val="FFFFFF"/>
                </a:solidFill>
              </a:rPr>
              <a:t> altında lisanslanmıştır</a:t>
            </a:r>
          </a:p>
        </p:txBody>
      </p:sp>
    </p:spTree>
    <p:extLst>
      <p:ext uri="{BB962C8B-B14F-4D97-AF65-F5344CB8AC3E}">
        <p14:creationId xmlns:p14="http://schemas.microsoft.com/office/powerpoint/2010/main" val="406759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576E9EF-1032-3E9D-6DF3-2BD5C6984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973446"/>
            <a:ext cx="111439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toString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Metodu (Kimlik Kartı / Özeti)</a:t>
            </a: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nesneyi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System.out.println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benimArabam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diyerek ekrana yazdırmaya çalıştığınızda arka planda otomatik olarak çağrılan metottur.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Varsayılan Hali: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Eğer bu metodu ezmezseniz, Java ekrana çok çirkin ve anlamsız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hafıza adresi yazar: </a:t>
            </a:r>
            <a:r>
              <a:rPr kumimoji="0" lang="tr-TR" altLang="tr-T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Araba@7a81197d</a:t>
            </a:r>
            <a:endParaRPr kumimoji="0" lang="tr-TR" altLang="tr-T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Neden Ezeriz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Override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)?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Nesnemizin okunabilir bir kimlik kartı olsun diye.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800" dirty="0">
                <a:latin typeface="Arial" panose="020B0604020202020204" pitchFamily="34" charset="0"/>
              </a:rPr>
              <a:t>@Override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800" dirty="0" err="1">
                <a:latin typeface="Arial" panose="020B0604020202020204" pitchFamily="34" charset="0"/>
              </a:rPr>
              <a:t>public</a:t>
            </a:r>
            <a:r>
              <a:rPr lang="tr-TR" altLang="tr-TR" sz="1800" dirty="0">
                <a:latin typeface="Arial" panose="020B0604020202020204" pitchFamily="34" charset="0"/>
              </a:rPr>
              <a:t> </a:t>
            </a:r>
            <a:r>
              <a:rPr lang="tr-TR" altLang="tr-TR" sz="1800" dirty="0" err="1">
                <a:latin typeface="Arial" panose="020B0604020202020204" pitchFamily="34" charset="0"/>
              </a:rPr>
              <a:t>String</a:t>
            </a:r>
            <a:r>
              <a:rPr lang="tr-TR" altLang="tr-TR" sz="1800" dirty="0">
                <a:latin typeface="Arial" panose="020B0604020202020204" pitchFamily="34" charset="0"/>
              </a:rPr>
              <a:t> </a:t>
            </a:r>
            <a:r>
              <a:rPr lang="tr-TR" altLang="tr-TR" sz="1800" dirty="0" err="1">
                <a:latin typeface="Arial" panose="020B0604020202020204" pitchFamily="34" charset="0"/>
              </a:rPr>
              <a:t>toString</a:t>
            </a:r>
            <a:r>
              <a:rPr lang="tr-TR" altLang="tr-TR" sz="1800" dirty="0">
                <a:latin typeface="Arial" panose="020B0604020202020204" pitchFamily="34" charset="0"/>
              </a:rPr>
              <a:t>()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800" dirty="0">
                <a:latin typeface="Arial" panose="020B0604020202020204" pitchFamily="34" charset="0"/>
              </a:rPr>
              <a:t>    </a:t>
            </a:r>
            <a:r>
              <a:rPr lang="tr-TR" altLang="tr-TR" sz="1800" dirty="0" err="1">
                <a:latin typeface="Arial" panose="020B0604020202020204" pitchFamily="34" charset="0"/>
              </a:rPr>
              <a:t>return</a:t>
            </a:r>
            <a:r>
              <a:rPr lang="tr-TR" altLang="tr-TR" sz="1800" dirty="0">
                <a:latin typeface="Arial" panose="020B0604020202020204" pitchFamily="34" charset="0"/>
              </a:rPr>
              <a:t> "Araba: " + marka + ", Model: " + </a:t>
            </a:r>
            <a:r>
              <a:rPr lang="tr-TR" altLang="tr-TR" sz="1800" dirty="0" err="1">
                <a:latin typeface="Arial" panose="020B0604020202020204" pitchFamily="34" charset="0"/>
              </a:rPr>
              <a:t>yil</a:t>
            </a:r>
            <a:r>
              <a:rPr lang="tr-TR" altLang="tr-TR" sz="1800" dirty="0">
                <a:latin typeface="Arial" panose="020B0604020202020204" pitchFamily="34" charset="0"/>
              </a:rPr>
              <a:t>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800" dirty="0">
                <a:latin typeface="Arial" panose="020B0604020202020204" pitchFamily="34" charset="0"/>
              </a:rPr>
              <a:t>    // Artık ekrana yazdırınca "Araba: Toyota, Model: 2020" yazar.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800" dirty="0">
                <a:latin typeface="Arial" panose="020B0604020202020204" pitchFamily="34" charset="0"/>
              </a:rPr>
              <a:t>}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7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309C92-3D4F-8CAE-50CA-3B51D86A7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/>
              <a:t>2. </a:t>
            </a:r>
            <a:r>
              <a:rPr lang="tr-TR" b="1" dirty="0" err="1"/>
              <a:t>equals</a:t>
            </a:r>
            <a:r>
              <a:rPr lang="tr-TR" b="1" dirty="0"/>
              <a:t>(Object </a:t>
            </a:r>
            <a:r>
              <a:rPr lang="tr-TR" b="1" dirty="0" err="1"/>
              <a:t>obj</a:t>
            </a:r>
            <a:r>
              <a:rPr lang="tr-TR" b="1" dirty="0"/>
              <a:t>) Metodu (İkiz mi, Yoksa Aynı Kişi mi?)</a:t>
            </a:r>
          </a:p>
          <a:p>
            <a:r>
              <a:rPr lang="tr-TR" dirty="0"/>
              <a:t>Yazılıma yeni başlayanların en çok düştüğü tuzak burasıdır. İki nesnenin "eşit" olup olmadığını kontrol eder. Ancak </a:t>
            </a:r>
            <a:r>
              <a:rPr lang="tr-TR" b="1" dirty="0"/>
              <a:t>== operatörü ile </a:t>
            </a:r>
            <a:r>
              <a:rPr lang="tr-TR" b="1" dirty="0" err="1"/>
              <a:t>equals</a:t>
            </a:r>
            <a:r>
              <a:rPr lang="tr-TR" b="1" dirty="0"/>
              <a:t>() metodu arasında dağlar kadar fark vardır.</a:t>
            </a:r>
            <a:endParaRPr lang="tr-TR" dirty="0"/>
          </a:p>
          <a:p>
            <a:r>
              <a:rPr lang="tr-TR" b="1" dirty="0"/>
              <a:t>== Operatörü (Fiziksel Eşitlik):</a:t>
            </a:r>
            <a:r>
              <a:rPr lang="tr-TR" dirty="0"/>
              <a:t> İki nesnenin hafızada (</a:t>
            </a:r>
            <a:r>
              <a:rPr lang="tr-TR" dirty="0" err="1"/>
              <a:t>RAM'de</a:t>
            </a:r>
            <a:r>
              <a:rPr lang="tr-TR" dirty="0"/>
              <a:t>) </a:t>
            </a:r>
            <a:r>
              <a:rPr lang="tr-TR" i="1" dirty="0"/>
              <a:t>birebir aynı nesne</a:t>
            </a:r>
            <a:r>
              <a:rPr lang="tr-TR" dirty="0"/>
              <a:t> olup olmadığına bakar. (Bu iki adam fiziksel olarak aynı bedeni mi paylaşıyor?)</a:t>
            </a:r>
          </a:p>
          <a:p>
            <a:r>
              <a:rPr lang="tr-TR" b="1" dirty="0" err="1"/>
              <a:t>equals</a:t>
            </a:r>
            <a:r>
              <a:rPr lang="tr-TR" b="1" dirty="0"/>
              <a:t>() Metodu (Mantıksal Eşitlik):</a:t>
            </a:r>
            <a:r>
              <a:rPr lang="tr-TR" dirty="0"/>
              <a:t> İki nesnenin </a:t>
            </a:r>
            <a:r>
              <a:rPr lang="tr-TR" i="1" dirty="0"/>
              <a:t>içeriğinin</a:t>
            </a:r>
            <a:r>
              <a:rPr lang="tr-TR" dirty="0"/>
              <a:t> aynı olup olmadığına bakar. (Bu iki farklı adamın isimleri ve yaşları tıpatıp aynı mı?)</a:t>
            </a:r>
          </a:p>
          <a:p>
            <a:r>
              <a:rPr lang="tr-TR" b="1" dirty="0"/>
              <a:t>Neden Ezeriz?</a:t>
            </a:r>
            <a:r>
              <a:rPr lang="tr-TR" dirty="0"/>
              <a:t> Object sınıfının varsayılan </a:t>
            </a:r>
            <a:r>
              <a:rPr lang="tr-TR" dirty="0" err="1"/>
              <a:t>equals</a:t>
            </a:r>
            <a:r>
              <a:rPr lang="tr-TR" dirty="0"/>
              <a:t>() metodu, tembeldir ve sadece == gibi davranır. İki farklı </a:t>
            </a:r>
            <a:r>
              <a:rPr lang="tr-TR" dirty="0" err="1"/>
              <a:t>Musteri</a:t>
            </a:r>
            <a:r>
              <a:rPr lang="tr-TR" dirty="0"/>
              <a:t> nesnesinin TC Kimlik numaraları aynıysa onları "eşit" kabul etmek istiyorsak, bu metodu ezip kendi eşitlik kuralımızı yazmak </a:t>
            </a:r>
            <a:r>
              <a:rPr lang="tr-TR" b="1" dirty="0"/>
              <a:t>zorundayız</a:t>
            </a:r>
            <a:r>
              <a:rPr lang="tr-TR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40422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6F4636-A76F-79CE-0D4C-665C96DE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3. </a:t>
            </a:r>
            <a:r>
              <a:rPr lang="tr-TR" b="1" dirty="0" err="1"/>
              <a:t>hashCode</a:t>
            </a:r>
            <a:r>
              <a:rPr lang="tr-TR" b="1" dirty="0"/>
              <a:t>() Metodu (Arşiv Numarası / Barkod)</a:t>
            </a:r>
          </a:p>
          <a:p>
            <a:r>
              <a:rPr lang="tr-TR" dirty="0"/>
              <a:t>Bir nesnenin hafızadaki durumuna göre üretilmiş benzersiz (veya benzersize çok yakın) bir tam sayı (</a:t>
            </a:r>
            <a:r>
              <a:rPr lang="tr-TR" dirty="0" err="1"/>
              <a:t>integer</a:t>
            </a:r>
            <a:r>
              <a:rPr lang="tr-TR" dirty="0"/>
              <a:t>) döndürür. Verileri çok hızlı aramak için kullanılan </a:t>
            </a:r>
            <a:r>
              <a:rPr lang="tr-TR" dirty="0" err="1"/>
              <a:t>HashMap</a:t>
            </a:r>
            <a:r>
              <a:rPr lang="tr-TR" dirty="0"/>
              <a:t> veya </a:t>
            </a:r>
            <a:r>
              <a:rPr lang="tr-TR" dirty="0" err="1"/>
              <a:t>HashSet</a:t>
            </a:r>
            <a:r>
              <a:rPr lang="tr-TR" dirty="0"/>
              <a:t> gibi gelişmiş koleksiyon yapılarında hayati önem taşır.</a:t>
            </a:r>
          </a:p>
          <a:p>
            <a:r>
              <a:rPr lang="tr-TR" b="1" dirty="0"/>
              <a:t>Altın Kural (</a:t>
            </a:r>
            <a:r>
              <a:rPr lang="tr-TR" b="1" dirty="0" err="1"/>
              <a:t>Equals-HashCode</a:t>
            </a:r>
            <a:r>
              <a:rPr lang="tr-TR" b="1" dirty="0"/>
              <a:t> Sözleşmesi):</a:t>
            </a:r>
            <a:r>
              <a:rPr lang="tr-TR" dirty="0"/>
              <a:t> Eğer iki nesne </a:t>
            </a:r>
            <a:r>
              <a:rPr lang="tr-TR" dirty="0" err="1"/>
              <a:t>equals</a:t>
            </a:r>
            <a:r>
              <a:rPr lang="tr-TR" dirty="0"/>
              <a:t>() metoduna göre birbirine </a:t>
            </a:r>
            <a:r>
              <a:rPr lang="tr-TR" b="1" dirty="0"/>
              <a:t>eşitse</a:t>
            </a:r>
            <a:r>
              <a:rPr lang="tr-TR" dirty="0"/>
              <a:t>, bu iki nesnenin </a:t>
            </a:r>
            <a:r>
              <a:rPr lang="tr-TR" dirty="0" err="1"/>
              <a:t>hashCode</a:t>
            </a:r>
            <a:r>
              <a:rPr lang="tr-TR" dirty="0"/>
              <a:t>() sayıları da kesinlikle </a:t>
            </a:r>
            <a:r>
              <a:rPr lang="tr-TR" b="1" dirty="0"/>
              <a:t>birebir aynı olmak zorundadır!</a:t>
            </a:r>
            <a:r>
              <a:rPr lang="tr-TR" dirty="0"/>
              <a:t> Eğer birini eziyorsanız (</a:t>
            </a:r>
            <a:r>
              <a:rPr lang="tr-TR" dirty="0" err="1"/>
              <a:t>Override</a:t>
            </a:r>
            <a:r>
              <a:rPr lang="tr-TR" dirty="0"/>
              <a:t>), diğerini de ezmek </a:t>
            </a:r>
            <a:r>
              <a:rPr lang="tr-TR" dirty="0" err="1"/>
              <a:t>yazılımcılığın</a:t>
            </a:r>
            <a:r>
              <a:rPr lang="tr-TR" dirty="0"/>
              <a:t> raconudur.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3815629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1163</Words>
  <Application>Microsoft Office PowerPoint</Application>
  <PresentationFormat>Geniş ekran</PresentationFormat>
  <Paragraphs>79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3" baseType="lpstr">
      <vt:lpstr>Arial</vt:lpstr>
      <vt:lpstr>Arial Unicode MS</vt:lpstr>
      <vt:lpstr>Neue Haas Grotesk Text Pro</vt:lpstr>
      <vt:lpstr>Helena</vt:lpstr>
      <vt:lpstr>PowerPoint Sunusu</vt:lpstr>
      <vt:lpstr>INHERİTANCE(KALITIM)</vt:lpstr>
      <vt:lpstr>PowerPoint Sunusu</vt:lpstr>
      <vt:lpstr>super Anahtar Kelimesi</vt:lpstr>
      <vt:lpstr>PowerPoint Sunusu</vt:lpstr>
      <vt:lpstr>PowerPoint Sunusu</vt:lpstr>
      <vt:lpstr>Method Overriding</vt:lpstr>
      <vt:lpstr>PowerPoint Sunusu</vt:lpstr>
      <vt:lpstr>Örnek kod:</vt:lpstr>
      <vt:lpstr>PowerPoint Sunusu</vt:lpstr>
      <vt:lpstr>Polymorphism (Çok Biçimlilik)</vt:lpstr>
      <vt:lpstr>PowerPoint Sunusu</vt:lpstr>
      <vt:lpstr>Örnek kod:</vt:lpstr>
      <vt:lpstr>final Anahtar Kelimesi</vt:lpstr>
      <vt:lpstr>PowerPoint Sunusu</vt:lpstr>
      <vt:lpstr> Object Sınıfı ve Temel Metodlar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Mert ACAR</dc:creator>
  <cp:lastModifiedBy>Mert ACAR</cp:lastModifiedBy>
  <cp:revision>1</cp:revision>
  <dcterms:created xsi:type="dcterms:W3CDTF">2026-02-14T07:46:51Z</dcterms:created>
  <dcterms:modified xsi:type="dcterms:W3CDTF">2026-02-14T09:09:37Z</dcterms:modified>
</cp:coreProperties>
</file>