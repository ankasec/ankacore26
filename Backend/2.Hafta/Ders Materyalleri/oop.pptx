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Barlow Heavy" charset="1" panose="00000A00000000000000"/>
      <p:regular r:id="rId16"/>
    </p:embeddedFont>
    <p:embeddedFont>
      <p:font typeface="Barlow" charset="1" panose="00000500000000000000"/>
      <p:regular r:id="rId17"/>
    </p:embeddedFont>
    <p:embeddedFont>
      <p:font typeface="Raleway" charset="1" panose="020B0503030101060003"/>
      <p:regular r:id="rId18"/>
    </p:embeddedFont>
    <p:embeddedFont>
      <p:font typeface="Raleway Bold" charset="1" panose="020B08030301010600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5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5.pn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Relationship Id="rId9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02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-10800000">
            <a:off x="1028700" y="9248775"/>
            <a:ext cx="16230600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28700" y="9614866"/>
            <a:ext cx="315741" cy="314467"/>
            <a:chOff x="0" y="0"/>
            <a:chExt cx="575079" cy="5727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5714D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797018" y="9614866"/>
            <a:ext cx="315741" cy="314467"/>
            <a:chOff x="0" y="0"/>
            <a:chExt cx="575079" cy="5727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943559" y="9614866"/>
            <a:ext cx="315741" cy="314467"/>
            <a:chOff x="0" y="0"/>
            <a:chExt cx="575079" cy="5727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565335" y="9614866"/>
            <a:ext cx="315741" cy="314467"/>
            <a:chOff x="0" y="0"/>
            <a:chExt cx="575079" cy="57275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333653" y="9614866"/>
            <a:ext cx="315741" cy="314467"/>
            <a:chOff x="0" y="0"/>
            <a:chExt cx="575079" cy="57275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101971" y="9614866"/>
            <a:ext cx="315741" cy="314467"/>
            <a:chOff x="0" y="0"/>
            <a:chExt cx="575079" cy="57275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870288" y="9614866"/>
            <a:ext cx="315741" cy="314467"/>
            <a:chOff x="0" y="0"/>
            <a:chExt cx="575079" cy="57275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638606" y="9614866"/>
            <a:ext cx="315741" cy="314467"/>
            <a:chOff x="0" y="0"/>
            <a:chExt cx="575079" cy="57275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406924" y="9614866"/>
            <a:ext cx="315741" cy="314467"/>
            <a:chOff x="0" y="0"/>
            <a:chExt cx="575079" cy="57275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5175242" y="9614866"/>
            <a:ext cx="315741" cy="314467"/>
            <a:chOff x="0" y="0"/>
            <a:chExt cx="575079" cy="57275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10967892" y="-3769274"/>
            <a:ext cx="9884429" cy="10180592"/>
          </a:xfrm>
          <a:custGeom>
            <a:avLst/>
            <a:gdLst/>
            <a:ahLst/>
            <a:cxnLst/>
            <a:rect r="r" b="b" t="t" l="l"/>
            <a:pathLst>
              <a:path h="10180592" w="9884429">
                <a:moveTo>
                  <a:pt x="0" y="0"/>
                </a:moveTo>
                <a:lnTo>
                  <a:pt x="9884429" y="0"/>
                </a:lnTo>
                <a:lnTo>
                  <a:pt x="9884429" y="10180592"/>
                </a:lnTo>
                <a:lnTo>
                  <a:pt x="0" y="101805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-5743156" y="-1569586"/>
            <a:ext cx="10503645" cy="10818361"/>
          </a:xfrm>
          <a:custGeom>
            <a:avLst/>
            <a:gdLst/>
            <a:ahLst/>
            <a:cxnLst/>
            <a:rect r="r" b="b" t="t" l="l"/>
            <a:pathLst>
              <a:path h="10818361" w="10503645">
                <a:moveTo>
                  <a:pt x="0" y="0"/>
                </a:moveTo>
                <a:lnTo>
                  <a:pt x="10503645" y="0"/>
                </a:lnTo>
                <a:lnTo>
                  <a:pt x="10503645" y="10818361"/>
                </a:lnTo>
                <a:lnTo>
                  <a:pt x="0" y="108183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5995467" y="0"/>
            <a:ext cx="2292533" cy="2292533"/>
          </a:xfrm>
          <a:custGeom>
            <a:avLst/>
            <a:gdLst/>
            <a:ahLst/>
            <a:cxnLst/>
            <a:rect r="r" b="b" t="t" l="l"/>
            <a:pathLst>
              <a:path h="2292533" w="2292533">
                <a:moveTo>
                  <a:pt x="0" y="0"/>
                </a:moveTo>
                <a:lnTo>
                  <a:pt x="2292533" y="0"/>
                </a:lnTo>
                <a:lnTo>
                  <a:pt x="2292533" y="2292533"/>
                </a:lnTo>
                <a:lnTo>
                  <a:pt x="0" y="22925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954683" y="3124200"/>
            <a:ext cx="14378634" cy="402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40"/>
              </a:lnSpc>
            </a:pPr>
            <a:r>
              <a:rPr lang="en-US" sz="13200" b="true">
                <a:solidFill>
                  <a:srgbClr val="FFFFFF"/>
                </a:solidFill>
                <a:latin typeface="Barlow Heavy"/>
                <a:ea typeface="Barlow Heavy"/>
                <a:cs typeface="Barlow Heavy"/>
                <a:sym typeface="Barlow Heavy"/>
              </a:rPr>
              <a:t>Nesne Yönelimli Programlama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465288" y="1311497"/>
            <a:ext cx="335742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AnkaCORE’26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02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283484" y="1450678"/>
            <a:ext cx="7670838" cy="8321422"/>
          </a:xfrm>
          <a:custGeom>
            <a:avLst/>
            <a:gdLst/>
            <a:ahLst/>
            <a:cxnLst/>
            <a:rect r="r" b="b" t="t" l="l"/>
            <a:pathLst>
              <a:path h="8321422" w="7670838">
                <a:moveTo>
                  <a:pt x="0" y="0"/>
                </a:moveTo>
                <a:lnTo>
                  <a:pt x="7670838" y="0"/>
                </a:lnTo>
                <a:lnTo>
                  <a:pt x="7670838" y="8321422"/>
                </a:lnTo>
                <a:lnTo>
                  <a:pt x="0" y="83214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-10800000">
            <a:off x="1028700" y="9248775"/>
            <a:ext cx="16230600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028700" y="9614866"/>
            <a:ext cx="315741" cy="314467"/>
            <a:chOff x="0" y="0"/>
            <a:chExt cx="575079" cy="5727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797018" y="9614866"/>
            <a:ext cx="315741" cy="314467"/>
            <a:chOff x="0" y="0"/>
            <a:chExt cx="575079" cy="5727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5714D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943559" y="9614866"/>
            <a:ext cx="315741" cy="314467"/>
            <a:chOff x="0" y="0"/>
            <a:chExt cx="575079" cy="57275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565335" y="9614866"/>
            <a:ext cx="315741" cy="314467"/>
            <a:chOff x="0" y="0"/>
            <a:chExt cx="575079" cy="57275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333653" y="9614866"/>
            <a:ext cx="315741" cy="314467"/>
            <a:chOff x="0" y="0"/>
            <a:chExt cx="575079" cy="57275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101971" y="9614866"/>
            <a:ext cx="315741" cy="314467"/>
            <a:chOff x="0" y="0"/>
            <a:chExt cx="575079" cy="57275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870288" y="9614866"/>
            <a:ext cx="315741" cy="314467"/>
            <a:chOff x="0" y="0"/>
            <a:chExt cx="575079" cy="57275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638606" y="9614866"/>
            <a:ext cx="315741" cy="314467"/>
            <a:chOff x="0" y="0"/>
            <a:chExt cx="575079" cy="57275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406924" y="9614866"/>
            <a:ext cx="315741" cy="314467"/>
            <a:chOff x="0" y="0"/>
            <a:chExt cx="575079" cy="57275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5175242" y="9614866"/>
            <a:ext cx="315741" cy="314467"/>
            <a:chOff x="0" y="0"/>
            <a:chExt cx="575079" cy="57275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AutoShape 34" id="34"/>
          <p:cNvSpPr/>
          <p:nvPr/>
        </p:nvSpPr>
        <p:spPr>
          <a:xfrm rot="-10800000">
            <a:off x="2195779" y="1744897"/>
            <a:ext cx="6167903" cy="0"/>
          </a:xfrm>
          <a:prstGeom prst="line">
            <a:avLst/>
          </a:prstGeom>
          <a:ln cap="rnd" w="762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 flipH="true">
            <a:off x="2195779" y="5287400"/>
            <a:ext cx="6167903" cy="0"/>
          </a:xfrm>
          <a:prstGeom prst="line">
            <a:avLst/>
          </a:prstGeom>
          <a:ln cap="rnd" w="762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6" id="36"/>
          <p:cNvSpPr/>
          <p:nvPr/>
        </p:nvSpPr>
        <p:spPr>
          <a:xfrm flipH="false" flipV="false" rot="0">
            <a:off x="13516173" y="574928"/>
            <a:ext cx="7670838" cy="8321422"/>
          </a:xfrm>
          <a:custGeom>
            <a:avLst/>
            <a:gdLst/>
            <a:ahLst/>
            <a:cxnLst/>
            <a:rect r="r" b="b" t="t" l="l"/>
            <a:pathLst>
              <a:path h="8321422" w="7670838">
                <a:moveTo>
                  <a:pt x="0" y="0"/>
                </a:moveTo>
                <a:lnTo>
                  <a:pt x="7670838" y="0"/>
                </a:lnTo>
                <a:lnTo>
                  <a:pt x="7670838" y="8321422"/>
                </a:lnTo>
                <a:lnTo>
                  <a:pt x="0" y="83214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7" id="37"/>
          <p:cNvSpPr/>
          <p:nvPr/>
        </p:nvSpPr>
        <p:spPr>
          <a:xfrm flipH="true">
            <a:off x="11022256" y="5736484"/>
            <a:ext cx="4118876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 flipH="true">
            <a:off x="11022256" y="6563635"/>
            <a:ext cx="4118876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9" id="39"/>
          <p:cNvSpPr/>
          <p:nvPr/>
        </p:nvSpPr>
        <p:spPr>
          <a:xfrm flipH="true">
            <a:off x="11022256" y="7382785"/>
            <a:ext cx="4118876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0" id="40"/>
          <p:cNvSpPr txBox="true"/>
          <p:nvPr/>
        </p:nvSpPr>
        <p:spPr>
          <a:xfrm rot="0">
            <a:off x="2298480" y="1976000"/>
            <a:ext cx="7238246" cy="401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9000" b="true">
                <a:solidFill>
                  <a:srgbClr val="FFFFFF"/>
                </a:solidFill>
                <a:latin typeface="Barlow Heavy"/>
                <a:ea typeface="Barlow Heavy"/>
                <a:cs typeface="Barlow Heavy"/>
                <a:sym typeface="Barlow Heavy"/>
              </a:rPr>
              <a:t>Bugün Neler Öğreneceğiz?</a:t>
            </a:r>
          </a:p>
          <a:p>
            <a:pPr algn="l">
              <a:lnSpc>
                <a:spcPts val="9961"/>
              </a:lnSpc>
            </a:pPr>
          </a:p>
        </p:txBody>
      </p:sp>
      <p:sp>
        <p:nvSpPr>
          <p:cNvPr name="TextBox 41" id="41"/>
          <p:cNvSpPr txBox="true"/>
          <p:nvPr/>
        </p:nvSpPr>
        <p:spPr>
          <a:xfrm rot="0">
            <a:off x="10366674" y="4550621"/>
            <a:ext cx="5827821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07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Nesne Yönelimli Programlama nedir?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366674" y="5850784"/>
            <a:ext cx="5827821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07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Neden NYP kullanıyoruz?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366674" y="6673173"/>
            <a:ext cx="5827821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07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4 Temel Prensip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366674" y="7492323"/>
            <a:ext cx="5827821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07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Java'da NYP uygulamaları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15995467" y="0"/>
            <a:ext cx="2292533" cy="2292533"/>
          </a:xfrm>
          <a:custGeom>
            <a:avLst/>
            <a:gdLst/>
            <a:ahLst/>
            <a:cxnLst/>
            <a:rect r="r" b="b" t="t" l="l"/>
            <a:pathLst>
              <a:path h="2292533" w="2292533">
                <a:moveTo>
                  <a:pt x="0" y="0"/>
                </a:moveTo>
                <a:lnTo>
                  <a:pt x="2292533" y="0"/>
                </a:lnTo>
                <a:lnTo>
                  <a:pt x="2292533" y="2292533"/>
                </a:lnTo>
                <a:lnTo>
                  <a:pt x="0" y="22925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02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84842" y="-1284242"/>
            <a:ext cx="9884429" cy="10180592"/>
          </a:xfrm>
          <a:custGeom>
            <a:avLst/>
            <a:gdLst/>
            <a:ahLst/>
            <a:cxnLst/>
            <a:rect r="r" b="b" t="t" l="l"/>
            <a:pathLst>
              <a:path h="10180592" w="9884429">
                <a:moveTo>
                  <a:pt x="0" y="0"/>
                </a:moveTo>
                <a:lnTo>
                  <a:pt x="9884430" y="0"/>
                </a:lnTo>
                <a:lnTo>
                  <a:pt x="9884430" y="10180592"/>
                </a:lnTo>
                <a:lnTo>
                  <a:pt x="0" y="101805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H="true">
            <a:off x="10653280" y="1066800"/>
            <a:ext cx="6167903" cy="0"/>
          </a:xfrm>
          <a:prstGeom prst="line">
            <a:avLst/>
          </a:prstGeom>
          <a:ln cap="rnd" w="762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H="true">
            <a:off x="10577616" y="8313609"/>
            <a:ext cx="6167903" cy="0"/>
          </a:xfrm>
          <a:prstGeom prst="line">
            <a:avLst/>
          </a:prstGeom>
          <a:ln cap="rnd" w="762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-10800000">
            <a:off x="1028700" y="9248775"/>
            <a:ext cx="16230600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028700" y="9614866"/>
            <a:ext cx="315741" cy="314467"/>
            <a:chOff x="0" y="0"/>
            <a:chExt cx="575079" cy="5727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797018" y="9614866"/>
            <a:ext cx="315741" cy="314467"/>
            <a:chOff x="0" y="0"/>
            <a:chExt cx="575079" cy="5727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943559" y="9614866"/>
            <a:ext cx="315741" cy="314467"/>
            <a:chOff x="0" y="0"/>
            <a:chExt cx="575079" cy="57275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565335" y="9614866"/>
            <a:ext cx="315741" cy="314467"/>
            <a:chOff x="0" y="0"/>
            <a:chExt cx="575079" cy="57275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5E17EB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333653" y="9614866"/>
            <a:ext cx="315741" cy="314467"/>
            <a:chOff x="0" y="0"/>
            <a:chExt cx="575079" cy="57275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101971" y="9614866"/>
            <a:ext cx="315741" cy="314467"/>
            <a:chOff x="0" y="0"/>
            <a:chExt cx="575079" cy="57275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870288" y="9614866"/>
            <a:ext cx="315741" cy="314467"/>
            <a:chOff x="0" y="0"/>
            <a:chExt cx="575079" cy="57275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638606" y="9614866"/>
            <a:ext cx="315741" cy="314467"/>
            <a:chOff x="0" y="0"/>
            <a:chExt cx="575079" cy="57275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406924" y="9614866"/>
            <a:ext cx="315741" cy="314467"/>
            <a:chOff x="0" y="0"/>
            <a:chExt cx="575079" cy="57275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5175242" y="9614866"/>
            <a:ext cx="315741" cy="314467"/>
            <a:chOff x="0" y="0"/>
            <a:chExt cx="575079" cy="57275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-3459166" y="-824452"/>
            <a:ext cx="7670838" cy="8321422"/>
          </a:xfrm>
          <a:custGeom>
            <a:avLst/>
            <a:gdLst/>
            <a:ahLst/>
            <a:cxnLst/>
            <a:rect r="r" b="b" t="t" l="l"/>
            <a:pathLst>
              <a:path h="8321422" w="7670838">
                <a:moveTo>
                  <a:pt x="0" y="0"/>
                </a:moveTo>
                <a:lnTo>
                  <a:pt x="7670838" y="0"/>
                </a:lnTo>
                <a:lnTo>
                  <a:pt x="7670838" y="8321422"/>
                </a:lnTo>
                <a:lnTo>
                  <a:pt x="0" y="83214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0577616" y="1617688"/>
            <a:ext cx="6243567" cy="6145032"/>
          </a:xfrm>
          <a:custGeom>
            <a:avLst/>
            <a:gdLst/>
            <a:ahLst/>
            <a:cxnLst/>
            <a:rect r="r" b="b" t="t" l="l"/>
            <a:pathLst>
              <a:path h="6145032" w="6243567">
                <a:moveTo>
                  <a:pt x="0" y="0"/>
                </a:moveTo>
                <a:lnTo>
                  <a:pt x="6243567" y="0"/>
                </a:lnTo>
                <a:lnTo>
                  <a:pt x="6243567" y="6145032"/>
                </a:lnTo>
                <a:lnTo>
                  <a:pt x="0" y="61450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971938" y="1984518"/>
            <a:ext cx="7848034" cy="3414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49"/>
              </a:lnSpc>
            </a:pPr>
            <a:r>
              <a:rPr lang="en-US" sz="11208" b="true">
                <a:solidFill>
                  <a:srgbClr val="FFFFFF"/>
                </a:solidFill>
                <a:latin typeface="Barlow Heavy"/>
                <a:ea typeface="Barlow Heavy"/>
                <a:cs typeface="Barlow Heavy"/>
                <a:sym typeface="Barlow Heavy"/>
              </a:rPr>
              <a:t>NYP NEDIR?</a:t>
            </a:r>
          </a:p>
          <a:p>
            <a:pPr algn="l">
              <a:lnSpc>
                <a:spcPts val="13449"/>
              </a:lnSpc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1971938" y="4124066"/>
            <a:ext cx="7799559" cy="310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Nesne Yönelimli Programlama, </a:t>
            </a:r>
          </a:p>
          <a:p>
            <a:pPr algn="l">
              <a:lnSpc>
                <a:spcPts val="4079"/>
              </a:lnSpc>
            </a:pPr>
            <a:r>
              <a:rPr lang="en-US" sz="339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gerçek dünyadaki varlıkları ve </a:t>
            </a:r>
          </a:p>
          <a:p>
            <a:pPr algn="l">
              <a:lnSpc>
                <a:spcPts val="4079"/>
              </a:lnSpc>
            </a:pPr>
            <a:r>
              <a:rPr lang="en-US" sz="339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ilişkilerini bilgisayar programlarına </a:t>
            </a:r>
          </a:p>
          <a:p>
            <a:pPr algn="l">
              <a:lnSpc>
                <a:spcPts val="4079"/>
              </a:lnSpc>
            </a:pPr>
            <a:r>
              <a:rPr lang="en-US" sz="339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modellememizi sağlayan bir yaklaşımdır.</a:t>
            </a:r>
          </a:p>
          <a:p>
            <a:pPr algn="l">
              <a:lnSpc>
                <a:spcPts val="4079"/>
              </a:lnSpc>
            </a:pP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0" y="0"/>
            <a:ext cx="2292533" cy="2292533"/>
          </a:xfrm>
          <a:custGeom>
            <a:avLst/>
            <a:gdLst/>
            <a:ahLst/>
            <a:cxnLst/>
            <a:rect r="r" b="b" t="t" l="l"/>
            <a:pathLst>
              <a:path h="2292533" w="2292533">
                <a:moveTo>
                  <a:pt x="0" y="0"/>
                </a:moveTo>
                <a:lnTo>
                  <a:pt x="2292533" y="0"/>
                </a:lnTo>
                <a:lnTo>
                  <a:pt x="2292533" y="2292533"/>
                </a:lnTo>
                <a:lnTo>
                  <a:pt x="0" y="22925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02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43379" y="517486"/>
            <a:ext cx="8215234" cy="8911989"/>
          </a:xfrm>
          <a:custGeom>
            <a:avLst/>
            <a:gdLst/>
            <a:ahLst/>
            <a:cxnLst/>
            <a:rect r="r" b="b" t="t" l="l"/>
            <a:pathLst>
              <a:path h="8911989" w="8215234">
                <a:moveTo>
                  <a:pt x="0" y="0"/>
                </a:moveTo>
                <a:lnTo>
                  <a:pt x="8215233" y="0"/>
                </a:lnTo>
                <a:lnTo>
                  <a:pt x="8215233" y="8911989"/>
                </a:lnTo>
                <a:lnTo>
                  <a:pt x="0" y="89119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-10800000">
            <a:off x="1028700" y="9248775"/>
            <a:ext cx="16230600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028700" y="9614866"/>
            <a:ext cx="315741" cy="314467"/>
            <a:chOff x="0" y="0"/>
            <a:chExt cx="575079" cy="5727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797018" y="9614866"/>
            <a:ext cx="315741" cy="314467"/>
            <a:chOff x="0" y="0"/>
            <a:chExt cx="575079" cy="5727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943559" y="9614866"/>
            <a:ext cx="315741" cy="314467"/>
            <a:chOff x="0" y="0"/>
            <a:chExt cx="575079" cy="57275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565335" y="9614866"/>
            <a:ext cx="315741" cy="314467"/>
            <a:chOff x="0" y="0"/>
            <a:chExt cx="575079" cy="57275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333653" y="9614866"/>
            <a:ext cx="315741" cy="314467"/>
            <a:chOff x="0" y="0"/>
            <a:chExt cx="575079" cy="57275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5714DB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101971" y="9614866"/>
            <a:ext cx="315741" cy="314467"/>
            <a:chOff x="0" y="0"/>
            <a:chExt cx="575079" cy="57275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870288" y="9614866"/>
            <a:ext cx="315741" cy="314467"/>
            <a:chOff x="0" y="0"/>
            <a:chExt cx="575079" cy="57275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638606" y="9614866"/>
            <a:ext cx="315741" cy="314467"/>
            <a:chOff x="0" y="0"/>
            <a:chExt cx="575079" cy="57275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406924" y="9614866"/>
            <a:ext cx="315741" cy="314467"/>
            <a:chOff x="0" y="0"/>
            <a:chExt cx="575079" cy="57275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5175242" y="9614866"/>
            <a:ext cx="315741" cy="314467"/>
            <a:chOff x="0" y="0"/>
            <a:chExt cx="575079" cy="57275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-3562399" y="-3273996"/>
            <a:ext cx="9043562" cy="9810570"/>
          </a:xfrm>
          <a:custGeom>
            <a:avLst/>
            <a:gdLst/>
            <a:ahLst/>
            <a:cxnLst/>
            <a:rect r="r" b="b" t="t" l="l"/>
            <a:pathLst>
              <a:path h="9810570" w="9043562">
                <a:moveTo>
                  <a:pt x="0" y="0"/>
                </a:moveTo>
                <a:lnTo>
                  <a:pt x="9043562" y="0"/>
                </a:lnTo>
                <a:lnTo>
                  <a:pt x="9043562" y="9810570"/>
                </a:lnTo>
                <a:lnTo>
                  <a:pt x="0" y="9810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5" id="35"/>
          <p:cNvSpPr/>
          <p:nvPr/>
        </p:nvSpPr>
        <p:spPr>
          <a:xfrm rot="-10800000">
            <a:off x="4665927" y="2666410"/>
            <a:ext cx="8956146" cy="0"/>
          </a:xfrm>
          <a:prstGeom prst="line">
            <a:avLst/>
          </a:prstGeom>
          <a:ln cap="rnd" w="762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6" id="36"/>
          <p:cNvGrpSpPr/>
          <p:nvPr/>
        </p:nvGrpSpPr>
        <p:grpSpPr>
          <a:xfrm rot="0">
            <a:off x="1653706" y="3869867"/>
            <a:ext cx="5055401" cy="2825907"/>
            <a:chOff x="0" y="0"/>
            <a:chExt cx="6740535" cy="3767877"/>
          </a:xfrm>
        </p:grpSpPr>
        <p:sp>
          <p:nvSpPr>
            <p:cNvPr name="TextBox 37" id="37"/>
            <p:cNvSpPr txBox="true"/>
            <p:nvPr/>
          </p:nvSpPr>
          <p:spPr>
            <a:xfrm rot="0">
              <a:off x="1275654" y="19050"/>
              <a:ext cx="4189227" cy="10965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69"/>
                </a:lnSpc>
              </a:pPr>
              <a:r>
                <a:rPr lang="en-US" b="true" sz="2881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Yapısal</a:t>
              </a:r>
              <a:r>
                <a:rPr lang="en-US" b="true" sz="2881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 Programlama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0" y="1604538"/>
              <a:ext cx="6740535" cy="21633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22051" indent="-311026" lvl="1">
                <a:lnSpc>
                  <a:spcPts val="3169"/>
                </a:lnSpc>
                <a:buFont typeface="Arial"/>
                <a:buChar char="•"/>
              </a:pPr>
              <a:r>
                <a:rPr lang="en-US" sz="2881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Prosedürler/fonksiyonlar merkezde</a:t>
              </a:r>
            </a:p>
            <a:p>
              <a:pPr algn="l" marL="622051" indent="-311026" lvl="1">
                <a:lnSpc>
                  <a:spcPts val="3169"/>
                </a:lnSpc>
                <a:buFont typeface="Arial"/>
                <a:buChar char="•"/>
              </a:pPr>
              <a:r>
                <a:rPr lang="en-US" sz="2881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İşlem</a:t>
              </a:r>
              <a:r>
                <a:rPr lang="en-US" sz="2881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 odaklı</a:t>
              </a:r>
            </a:p>
            <a:p>
              <a:pPr algn="l" marL="622051" indent="-311026" lvl="1">
                <a:lnSpc>
                  <a:spcPts val="3169"/>
                </a:lnSpc>
                <a:buFont typeface="Arial"/>
                <a:buChar char="•"/>
              </a:pPr>
              <a:r>
                <a:rPr lang="en-US" sz="2881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Örnek: C dili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7456394" y="3869867"/>
            <a:ext cx="4236625" cy="2825907"/>
            <a:chOff x="0" y="0"/>
            <a:chExt cx="5648833" cy="3767877"/>
          </a:xfrm>
        </p:grpSpPr>
        <p:sp>
          <p:nvSpPr>
            <p:cNvPr name="TextBox 40" id="40"/>
            <p:cNvSpPr txBox="true"/>
            <p:nvPr/>
          </p:nvSpPr>
          <p:spPr>
            <a:xfrm rot="0">
              <a:off x="729803" y="19050"/>
              <a:ext cx="4189227" cy="10965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169"/>
                </a:lnSpc>
                <a:spcBef>
                  <a:spcPct val="0"/>
                </a:spcBef>
              </a:pPr>
              <a:r>
                <a:rPr lang="en-US" b="true" sz="2881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Fonksiyonel Programlama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0" y="1604538"/>
              <a:ext cx="5648833" cy="21633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22051" indent="-311026" lvl="1">
                <a:lnSpc>
                  <a:spcPts val="3169"/>
                </a:lnSpc>
                <a:buFont typeface="Arial"/>
                <a:buChar char="•"/>
              </a:pPr>
              <a:r>
                <a:rPr lang="en-US" sz="2881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Matematiksel fonksiyonlar</a:t>
              </a:r>
            </a:p>
            <a:p>
              <a:pPr algn="l" marL="622051" indent="-311026" lvl="1">
                <a:lnSpc>
                  <a:spcPts val="3169"/>
                </a:lnSpc>
                <a:buFont typeface="Arial"/>
                <a:buChar char="•"/>
              </a:pPr>
              <a:r>
                <a:rPr lang="en-US" sz="2881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Değişmez veri</a:t>
              </a:r>
            </a:p>
            <a:p>
              <a:pPr algn="l" marL="622051" indent="-311026" lvl="1">
                <a:lnSpc>
                  <a:spcPts val="3169"/>
                </a:lnSpc>
                <a:buFont typeface="Arial"/>
                <a:buChar char="•"/>
              </a:pPr>
              <a:r>
                <a:rPr lang="en-US" sz="2881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Örnek: Haskell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440305" y="3869867"/>
            <a:ext cx="4193989" cy="3329506"/>
            <a:chOff x="0" y="0"/>
            <a:chExt cx="5591986" cy="4439341"/>
          </a:xfrm>
        </p:grpSpPr>
        <p:sp>
          <p:nvSpPr>
            <p:cNvPr name="TextBox 43" id="43"/>
            <p:cNvSpPr txBox="true"/>
            <p:nvPr/>
          </p:nvSpPr>
          <p:spPr>
            <a:xfrm rot="0">
              <a:off x="701379" y="19050"/>
              <a:ext cx="4189227" cy="10965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169"/>
                </a:lnSpc>
                <a:spcBef>
                  <a:spcPct val="0"/>
                </a:spcBef>
              </a:pPr>
              <a:r>
                <a:rPr lang="en-US" b="true" sz="2881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Nesne Yönelimli Programlama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0" y="1742603"/>
              <a:ext cx="5591986" cy="26967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22051" indent="-311026" lvl="1">
                <a:lnSpc>
                  <a:spcPts val="3169"/>
                </a:lnSpc>
                <a:buFont typeface="Arial"/>
                <a:buChar char="•"/>
              </a:pPr>
              <a:r>
                <a:rPr lang="en-US" sz="2881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Nesneler/veri merkezde</a:t>
              </a:r>
            </a:p>
            <a:p>
              <a:pPr algn="l" marL="622051" indent="-311026" lvl="1">
                <a:lnSpc>
                  <a:spcPts val="3169"/>
                </a:lnSpc>
                <a:buFont typeface="Arial"/>
                <a:buChar char="•"/>
              </a:pPr>
              <a:r>
                <a:rPr lang="en-US" sz="2881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Gerçek hayat modelleme</a:t>
              </a:r>
            </a:p>
            <a:p>
              <a:pPr algn="l" marL="622051" indent="-311026" lvl="1">
                <a:lnSpc>
                  <a:spcPts val="3169"/>
                </a:lnSpc>
                <a:buFont typeface="Arial"/>
                <a:buChar char="•"/>
              </a:pPr>
              <a:r>
                <a:rPr lang="en-US" sz="2881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Örnek: Java, C++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2210901" y="926642"/>
            <a:ext cx="13866197" cy="2590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00"/>
              </a:lnSpc>
            </a:pPr>
            <a:r>
              <a:rPr lang="en-US" sz="8500" b="true">
                <a:solidFill>
                  <a:srgbClr val="FFFFFF"/>
                </a:solidFill>
                <a:latin typeface="Barlow Heavy"/>
                <a:ea typeface="Barlow Heavy"/>
                <a:cs typeface="Barlow Heavy"/>
                <a:sym typeface="Barlow Heavy"/>
              </a:rPr>
              <a:t>Programlama Yaklaşımları</a:t>
            </a:r>
          </a:p>
          <a:p>
            <a:pPr algn="ctr">
              <a:lnSpc>
                <a:spcPts val="10200"/>
              </a:lnSpc>
            </a:pPr>
          </a:p>
        </p:txBody>
      </p:sp>
      <p:sp>
        <p:nvSpPr>
          <p:cNvPr name="Freeform 46" id="46"/>
          <p:cNvSpPr/>
          <p:nvPr/>
        </p:nvSpPr>
        <p:spPr>
          <a:xfrm flipH="false" flipV="false" rot="0">
            <a:off x="0" y="0"/>
            <a:ext cx="2292533" cy="2292533"/>
          </a:xfrm>
          <a:custGeom>
            <a:avLst/>
            <a:gdLst/>
            <a:ahLst/>
            <a:cxnLst/>
            <a:rect r="r" b="b" t="t" l="l"/>
            <a:pathLst>
              <a:path h="2292533" w="2292533">
                <a:moveTo>
                  <a:pt x="0" y="0"/>
                </a:moveTo>
                <a:lnTo>
                  <a:pt x="2292533" y="0"/>
                </a:lnTo>
                <a:lnTo>
                  <a:pt x="2292533" y="2292533"/>
                </a:lnTo>
                <a:lnTo>
                  <a:pt x="0" y="22925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02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84842" y="-1284242"/>
            <a:ext cx="9884429" cy="10180592"/>
          </a:xfrm>
          <a:custGeom>
            <a:avLst/>
            <a:gdLst/>
            <a:ahLst/>
            <a:cxnLst/>
            <a:rect r="r" b="b" t="t" l="l"/>
            <a:pathLst>
              <a:path h="10180592" w="9884429">
                <a:moveTo>
                  <a:pt x="0" y="0"/>
                </a:moveTo>
                <a:lnTo>
                  <a:pt x="9884430" y="0"/>
                </a:lnTo>
                <a:lnTo>
                  <a:pt x="9884430" y="10180592"/>
                </a:lnTo>
                <a:lnTo>
                  <a:pt x="0" y="101805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H="true">
            <a:off x="10653280" y="1066800"/>
            <a:ext cx="6167903" cy="0"/>
          </a:xfrm>
          <a:prstGeom prst="line">
            <a:avLst/>
          </a:prstGeom>
          <a:ln cap="rnd" w="762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H="true">
            <a:off x="10577616" y="8313609"/>
            <a:ext cx="6167903" cy="0"/>
          </a:xfrm>
          <a:prstGeom prst="line">
            <a:avLst/>
          </a:prstGeom>
          <a:ln cap="rnd" w="762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-10800000">
            <a:off x="1028700" y="9248775"/>
            <a:ext cx="16230600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028700" y="9614866"/>
            <a:ext cx="315741" cy="314467"/>
            <a:chOff x="0" y="0"/>
            <a:chExt cx="575079" cy="5727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797018" y="9614866"/>
            <a:ext cx="315741" cy="314467"/>
            <a:chOff x="0" y="0"/>
            <a:chExt cx="575079" cy="5727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943559" y="9614866"/>
            <a:ext cx="315741" cy="314467"/>
            <a:chOff x="0" y="0"/>
            <a:chExt cx="575079" cy="57275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565335" y="9614866"/>
            <a:ext cx="315741" cy="314467"/>
            <a:chOff x="0" y="0"/>
            <a:chExt cx="575079" cy="57275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333653" y="9614866"/>
            <a:ext cx="315741" cy="314467"/>
            <a:chOff x="0" y="0"/>
            <a:chExt cx="575079" cy="57275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101971" y="9614866"/>
            <a:ext cx="315741" cy="314467"/>
            <a:chOff x="0" y="0"/>
            <a:chExt cx="575079" cy="57275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5714DB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870288" y="9614866"/>
            <a:ext cx="315741" cy="314467"/>
            <a:chOff x="0" y="0"/>
            <a:chExt cx="575079" cy="57275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638606" y="9614866"/>
            <a:ext cx="315741" cy="314467"/>
            <a:chOff x="0" y="0"/>
            <a:chExt cx="575079" cy="57275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406924" y="9614866"/>
            <a:ext cx="315741" cy="314467"/>
            <a:chOff x="0" y="0"/>
            <a:chExt cx="575079" cy="57275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5175242" y="9614866"/>
            <a:ext cx="315741" cy="314467"/>
            <a:chOff x="0" y="0"/>
            <a:chExt cx="575079" cy="57275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-3459166" y="-824452"/>
            <a:ext cx="7670838" cy="8321422"/>
          </a:xfrm>
          <a:custGeom>
            <a:avLst/>
            <a:gdLst/>
            <a:ahLst/>
            <a:cxnLst/>
            <a:rect r="r" b="b" t="t" l="l"/>
            <a:pathLst>
              <a:path h="8321422" w="7670838">
                <a:moveTo>
                  <a:pt x="0" y="0"/>
                </a:moveTo>
                <a:lnTo>
                  <a:pt x="7670838" y="0"/>
                </a:lnTo>
                <a:lnTo>
                  <a:pt x="7670838" y="8321422"/>
                </a:lnTo>
                <a:lnTo>
                  <a:pt x="0" y="83214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989823" y="2982126"/>
            <a:ext cx="7848034" cy="264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50"/>
              </a:lnSpc>
            </a:pPr>
            <a:r>
              <a:rPr lang="en-US" sz="8708" b="true">
                <a:solidFill>
                  <a:srgbClr val="FFFFFF"/>
                </a:solidFill>
                <a:latin typeface="Barlow Heavy"/>
                <a:ea typeface="Barlow Heavy"/>
                <a:cs typeface="Barlow Heavy"/>
                <a:sym typeface="Barlow Heavy"/>
              </a:rPr>
              <a:t>SINIF (CLASS) NEDIR?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0" y="0"/>
            <a:ext cx="2292533" cy="2292533"/>
          </a:xfrm>
          <a:custGeom>
            <a:avLst/>
            <a:gdLst/>
            <a:ahLst/>
            <a:cxnLst/>
            <a:rect r="r" b="b" t="t" l="l"/>
            <a:pathLst>
              <a:path h="2292533" w="2292533">
                <a:moveTo>
                  <a:pt x="0" y="0"/>
                </a:moveTo>
                <a:lnTo>
                  <a:pt x="2292533" y="0"/>
                </a:lnTo>
                <a:lnTo>
                  <a:pt x="2292533" y="2292533"/>
                </a:lnTo>
                <a:lnTo>
                  <a:pt x="0" y="22925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0208674" y="1617688"/>
            <a:ext cx="7050626" cy="6145032"/>
          </a:xfrm>
          <a:custGeom>
            <a:avLst/>
            <a:gdLst/>
            <a:ahLst/>
            <a:cxnLst/>
            <a:rect r="r" b="b" t="t" l="l"/>
            <a:pathLst>
              <a:path h="6145032" w="7050626">
                <a:moveTo>
                  <a:pt x="0" y="0"/>
                </a:moveTo>
                <a:lnTo>
                  <a:pt x="7050626" y="0"/>
                </a:lnTo>
                <a:lnTo>
                  <a:pt x="7050626" y="6145032"/>
                </a:lnTo>
                <a:lnTo>
                  <a:pt x="0" y="614503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671" t="0" r="-671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1982313" y="5864883"/>
            <a:ext cx="7677458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Sınıf, nesnelerin şablonudur/kalıbıdır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02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84842" y="-1284242"/>
            <a:ext cx="9884429" cy="10180592"/>
          </a:xfrm>
          <a:custGeom>
            <a:avLst/>
            <a:gdLst/>
            <a:ahLst/>
            <a:cxnLst/>
            <a:rect r="r" b="b" t="t" l="l"/>
            <a:pathLst>
              <a:path h="10180592" w="9884429">
                <a:moveTo>
                  <a:pt x="0" y="0"/>
                </a:moveTo>
                <a:lnTo>
                  <a:pt x="9884430" y="0"/>
                </a:lnTo>
                <a:lnTo>
                  <a:pt x="9884430" y="10180592"/>
                </a:lnTo>
                <a:lnTo>
                  <a:pt x="0" y="101805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H="true">
            <a:off x="10653280" y="1066800"/>
            <a:ext cx="6167903" cy="0"/>
          </a:xfrm>
          <a:prstGeom prst="line">
            <a:avLst/>
          </a:prstGeom>
          <a:ln cap="rnd" w="762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H="true">
            <a:off x="10577616" y="8313609"/>
            <a:ext cx="6167903" cy="0"/>
          </a:xfrm>
          <a:prstGeom prst="line">
            <a:avLst/>
          </a:prstGeom>
          <a:ln cap="rnd" w="762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-10800000">
            <a:off x="1028700" y="9248775"/>
            <a:ext cx="16230600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028700" y="9614866"/>
            <a:ext cx="315741" cy="314467"/>
            <a:chOff x="0" y="0"/>
            <a:chExt cx="575079" cy="5727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797018" y="9614866"/>
            <a:ext cx="315741" cy="314467"/>
            <a:chOff x="0" y="0"/>
            <a:chExt cx="575079" cy="5727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943559" y="9614866"/>
            <a:ext cx="315741" cy="314467"/>
            <a:chOff x="0" y="0"/>
            <a:chExt cx="575079" cy="57275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565335" y="9614866"/>
            <a:ext cx="315741" cy="314467"/>
            <a:chOff x="0" y="0"/>
            <a:chExt cx="575079" cy="57275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333653" y="9614866"/>
            <a:ext cx="315741" cy="314467"/>
            <a:chOff x="0" y="0"/>
            <a:chExt cx="575079" cy="57275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101971" y="9614866"/>
            <a:ext cx="315741" cy="314467"/>
            <a:chOff x="0" y="0"/>
            <a:chExt cx="575079" cy="57275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870288" y="9614866"/>
            <a:ext cx="315741" cy="314467"/>
            <a:chOff x="0" y="0"/>
            <a:chExt cx="575079" cy="57275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5714DB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638606" y="9614866"/>
            <a:ext cx="315741" cy="314467"/>
            <a:chOff x="0" y="0"/>
            <a:chExt cx="575079" cy="57275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406924" y="9614866"/>
            <a:ext cx="315741" cy="314467"/>
            <a:chOff x="0" y="0"/>
            <a:chExt cx="575079" cy="57275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5175242" y="9614866"/>
            <a:ext cx="315741" cy="314467"/>
            <a:chOff x="0" y="0"/>
            <a:chExt cx="575079" cy="57275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-3459166" y="-824452"/>
            <a:ext cx="7670838" cy="8321422"/>
          </a:xfrm>
          <a:custGeom>
            <a:avLst/>
            <a:gdLst/>
            <a:ahLst/>
            <a:cxnLst/>
            <a:rect r="r" b="b" t="t" l="l"/>
            <a:pathLst>
              <a:path h="8321422" w="7670838">
                <a:moveTo>
                  <a:pt x="0" y="0"/>
                </a:moveTo>
                <a:lnTo>
                  <a:pt x="7670838" y="0"/>
                </a:lnTo>
                <a:lnTo>
                  <a:pt x="7670838" y="8321422"/>
                </a:lnTo>
                <a:lnTo>
                  <a:pt x="0" y="83214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0" y="0"/>
            <a:ext cx="2292533" cy="2292533"/>
          </a:xfrm>
          <a:custGeom>
            <a:avLst/>
            <a:gdLst/>
            <a:ahLst/>
            <a:cxnLst/>
            <a:rect r="r" b="b" t="t" l="l"/>
            <a:pathLst>
              <a:path h="2292533" w="2292533">
                <a:moveTo>
                  <a:pt x="0" y="0"/>
                </a:moveTo>
                <a:lnTo>
                  <a:pt x="2292533" y="0"/>
                </a:lnTo>
                <a:lnTo>
                  <a:pt x="2292533" y="2292533"/>
                </a:lnTo>
                <a:lnTo>
                  <a:pt x="0" y="22925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0586601" y="1511725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982313" y="3131321"/>
            <a:ext cx="7848034" cy="243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10"/>
              </a:lnSpc>
            </a:pPr>
            <a:r>
              <a:rPr lang="en-US" sz="8009" b="true">
                <a:solidFill>
                  <a:srgbClr val="FFFFFF"/>
                </a:solidFill>
                <a:latin typeface="Barlow Heavy"/>
                <a:ea typeface="Barlow Heavy"/>
                <a:cs typeface="Barlow Heavy"/>
                <a:sym typeface="Barlow Heavy"/>
              </a:rPr>
              <a:t>NESNE (OBJECT) NEDIR?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982313" y="5715688"/>
            <a:ext cx="7677458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Nesne, sınıftan üretilmiş gerçek örnektir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02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000000">
            <a:off x="10012211" y="-2849406"/>
            <a:ext cx="8229396" cy="8229396"/>
          </a:xfrm>
          <a:custGeom>
            <a:avLst/>
            <a:gdLst/>
            <a:ahLst/>
            <a:cxnLst/>
            <a:rect r="r" b="b" t="t" l="l"/>
            <a:pathLst>
              <a:path h="8229396" w="8229396">
                <a:moveTo>
                  <a:pt x="0" y="0"/>
                </a:moveTo>
                <a:lnTo>
                  <a:pt x="8229397" y="0"/>
                </a:lnTo>
                <a:lnTo>
                  <a:pt x="8229397" y="8229397"/>
                </a:lnTo>
                <a:lnTo>
                  <a:pt x="0" y="82293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8733888">
            <a:off x="14574997" y="-1318058"/>
            <a:ext cx="7616763" cy="8262761"/>
          </a:xfrm>
          <a:custGeom>
            <a:avLst/>
            <a:gdLst/>
            <a:ahLst/>
            <a:cxnLst/>
            <a:rect r="r" b="b" t="t" l="l"/>
            <a:pathLst>
              <a:path h="8262761" w="7616763">
                <a:moveTo>
                  <a:pt x="0" y="0"/>
                </a:moveTo>
                <a:lnTo>
                  <a:pt x="7616763" y="0"/>
                </a:lnTo>
                <a:lnTo>
                  <a:pt x="7616763" y="8262761"/>
                </a:lnTo>
                <a:lnTo>
                  <a:pt x="0" y="82627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881526">
            <a:off x="-4502793" y="-578361"/>
            <a:ext cx="9066934" cy="9835924"/>
          </a:xfrm>
          <a:custGeom>
            <a:avLst/>
            <a:gdLst/>
            <a:ahLst/>
            <a:cxnLst/>
            <a:rect r="r" b="b" t="t" l="l"/>
            <a:pathLst>
              <a:path h="9835924" w="9066934">
                <a:moveTo>
                  <a:pt x="0" y="0"/>
                </a:moveTo>
                <a:lnTo>
                  <a:pt x="9066934" y="0"/>
                </a:lnTo>
                <a:lnTo>
                  <a:pt x="9066934" y="9835925"/>
                </a:lnTo>
                <a:lnTo>
                  <a:pt x="0" y="98359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 rot="-10800000">
            <a:off x="1028700" y="9248775"/>
            <a:ext cx="16230600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028700" y="9614866"/>
            <a:ext cx="315741" cy="314467"/>
            <a:chOff x="0" y="0"/>
            <a:chExt cx="575079" cy="5727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797018" y="9614866"/>
            <a:ext cx="315741" cy="314467"/>
            <a:chOff x="0" y="0"/>
            <a:chExt cx="575079" cy="5727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943559" y="9614866"/>
            <a:ext cx="315741" cy="314467"/>
            <a:chOff x="0" y="0"/>
            <a:chExt cx="575079" cy="57275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565335" y="9614866"/>
            <a:ext cx="315741" cy="314467"/>
            <a:chOff x="0" y="0"/>
            <a:chExt cx="575079" cy="57275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333653" y="9614866"/>
            <a:ext cx="315741" cy="314467"/>
            <a:chOff x="0" y="0"/>
            <a:chExt cx="575079" cy="57275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101971" y="9614866"/>
            <a:ext cx="315741" cy="314467"/>
            <a:chOff x="0" y="0"/>
            <a:chExt cx="575079" cy="57275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870288" y="9614866"/>
            <a:ext cx="315741" cy="314467"/>
            <a:chOff x="0" y="0"/>
            <a:chExt cx="575079" cy="57275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638606" y="9614866"/>
            <a:ext cx="315741" cy="314467"/>
            <a:chOff x="0" y="0"/>
            <a:chExt cx="575079" cy="57275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5714DB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406924" y="9614866"/>
            <a:ext cx="315741" cy="314467"/>
            <a:chOff x="0" y="0"/>
            <a:chExt cx="575079" cy="57275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5175242" y="9614866"/>
            <a:ext cx="315741" cy="314467"/>
            <a:chOff x="0" y="0"/>
            <a:chExt cx="575079" cy="57275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4913007" y="405139"/>
            <a:ext cx="8461986" cy="3934462"/>
          </a:xfrm>
          <a:custGeom>
            <a:avLst/>
            <a:gdLst/>
            <a:ahLst/>
            <a:cxnLst/>
            <a:rect r="r" b="b" t="t" l="l"/>
            <a:pathLst>
              <a:path h="3934462" w="8461986">
                <a:moveTo>
                  <a:pt x="0" y="0"/>
                </a:moveTo>
                <a:lnTo>
                  <a:pt x="8461986" y="0"/>
                </a:lnTo>
                <a:lnTo>
                  <a:pt x="8461986" y="3934462"/>
                </a:lnTo>
                <a:lnTo>
                  <a:pt x="0" y="39344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2081396" y="4680347"/>
            <a:ext cx="5471118" cy="4227682"/>
          </a:xfrm>
          <a:custGeom>
            <a:avLst/>
            <a:gdLst/>
            <a:ahLst/>
            <a:cxnLst/>
            <a:rect r="r" b="b" t="t" l="l"/>
            <a:pathLst>
              <a:path h="4227682" w="5471118">
                <a:moveTo>
                  <a:pt x="0" y="0"/>
                </a:moveTo>
                <a:lnTo>
                  <a:pt x="5471118" y="0"/>
                </a:lnTo>
                <a:lnTo>
                  <a:pt x="5471118" y="4227682"/>
                </a:lnTo>
                <a:lnTo>
                  <a:pt x="0" y="422768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0304260" y="4680347"/>
            <a:ext cx="5636909" cy="4227682"/>
          </a:xfrm>
          <a:custGeom>
            <a:avLst/>
            <a:gdLst/>
            <a:ahLst/>
            <a:cxnLst/>
            <a:rect r="r" b="b" t="t" l="l"/>
            <a:pathLst>
              <a:path h="4227682" w="5636909">
                <a:moveTo>
                  <a:pt x="0" y="0"/>
                </a:moveTo>
                <a:lnTo>
                  <a:pt x="5636909" y="0"/>
                </a:lnTo>
                <a:lnTo>
                  <a:pt x="5636909" y="4227682"/>
                </a:lnTo>
                <a:lnTo>
                  <a:pt x="0" y="422768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8156862" y="6022663"/>
            <a:ext cx="1543050" cy="1543050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193675"/>
              <a:ext cx="711200" cy="415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Freeform 42" id="42"/>
          <p:cNvSpPr/>
          <p:nvPr/>
        </p:nvSpPr>
        <p:spPr>
          <a:xfrm flipH="false" flipV="false" rot="0">
            <a:off x="15995467" y="0"/>
            <a:ext cx="2292533" cy="2292533"/>
          </a:xfrm>
          <a:custGeom>
            <a:avLst/>
            <a:gdLst/>
            <a:ahLst/>
            <a:cxnLst/>
            <a:rect r="r" b="b" t="t" l="l"/>
            <a:pathLst>
              <a:path h="2292533" w="2292533">
                <a:moveTo>
                  <a:pt x="0" y="0"/>
                </a:moveTo>
                <a:lnTo>
                  <a:pt x="2292533" y="0"/>
                </a:lnTo>
                <a:lnTo>
                  <a:pt x="2292533" y="2292533"/>
                </a:lnTo>
                <a:lnTo>
                  <a:pt x="0" y="229253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02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265912">
            <a:off x="9296754" y="-2185365"/>
            <a:ext cx="13274311" cy="9726450"/>
          </a:xfrm>
          <a:custGeom>
            <a:avLst/>
            <a:gdLst/>
            <a:ahLst/>
            <a:cxnLst/>
            <a:rect r="r" b="b" t="t" l="l"/>
            <a:pathLst>
              <a:path h="9726450" w="13274311">
                <a:moveTo>
                  <a:pt x="0" y="0"/>
                </a:moveTo>
                <a:lnTo>
                  <a:pt x="13274311" y="0"/>
                </a:lnTo>
                <a:lnTo>
                  <a:pt x="13274311" y="9726450"/>
                </a:lnTo>
                <a:lnTo>
                  <a:pt x="0" y="97264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-10800000">
            <a:off x="1028700" y="9248775"/>
            <a:ext cx="16230600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028700" y="9614866"/>
            <a:ext cx="315741" cy="314467"/>
            <a:chOff x="0" y="0"/>
            <a:chExt cx="575079" cy="5727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797018" y="9614866"/>
            <a:ext cx="315741" cy="314467"/>
            <a:chOff x="0" y="0"/>
            <a:chExt cx="575079" cy="5727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943559" y="9614866"/>
            <a:ext cx="315741" cy="314467"/>
            <a:chOff x="0" y="0"/>
            <a:chExt cx="575079" cy="57275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565335" y="9614866"/>
            <a:ext cx="315741" cy="314467"/>
            <a:chOff x="0" y="0"/>
            <a:chExt cx="575079" cy="57275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333653" y="9614866"/>
            <a:ext cx="315741" cy="314467"/>
            <a:chOff x="0" y="0"/>
            <a:chExt cx="575079" cy="57275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101971" y="9614866"/>
            <a:ext cx="315741" cy="314467"/>
            <a:chOff x="0" y="0"/>
            <a:chExt cx="575079" cy="57275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870288" y="9614866"/>
            <a:ext cx="315741" cy="314467"/>
            <a:chOff x="0" y="0"/>
            <a:chExt cx="575079" cy="57275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638606" y="9614866"/>
            <a:ext cx="315741" cy="314467"/>
            <a:chOff x="0" y="0"/>
            <a:chExt cx="575079" cy="57275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406924" y="9614866"/>
            <a:ext cx="315741" cy="314467"/>
            <a:chOff x="0" y="0"/>
            <a:chExt cx="575079" cy="57275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5714DB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5175242" y="9614866"/>
            <a:ext cx="315741" cy="314467"/>
            <a:chOff x="0" y="0"/>
            <a:chExt cx="575079" cy="57275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5400000">
            <a:off x="-3454412" y="-338393"/>
            <a:ext cx="6989728" cy="6989728"/>
          </a:xfrm>
          <a:custGeom>
            <a:avLst/>
            <a:gdLst/>
            <a:ahLst/>
            <a:cxnLst/>
            <a:rect r="r" b="b" t="t" l="l"/>
            <a:pathLst>
              <a:path h="6989728" w="6989728">
                <a:moveTo>
                  <a:pt x="0" y="0"/>
                </a:moveTo>
                <a:lnTo>
                  <a:pt x="6989728" y="0"/>
                </a:lnTo>
                <a:lnTo>
                  <a:pt x="6989728" y="6989729"/>
                </a:lnTo>
                <a:lnTo>
                  <a:pt x="0" y="69897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5" id="35"/>
          <p:cNvSpPr/>
          <p:nvPr/>
        </p:nvSpPr>
        <p:spPr>
          <a:xfrm flipH="true">
            <a:off x="4665927" y="3560369"/>
            <a:ext cx="8956146" cy="0"/>
          </a:xfrm>
          <a:prstGeom prst="line">
            <a:avLst/>
          </a:prstGeom>
          <a:ln cap="rnd" w="762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6" id="36"/>
          <p:cNvSpPr/>
          <p:nvPr/>
        </p:nvSpPr>
        <p:spPr>
          <a:xfrm flipH="false" flipV="false" rot="9266111">
            <a:off x="-247918" y="-2826067"/>
            <a:ext cx="6469382" cy="7018067"/>
          </a:xfrm>
          <a:custGeom>
            <a:avLst/>
            <a:gdLst/>
            <a:ahLst/>
            <a:cxnLst/>
            <a:rect r="r" b="b" t="t" l="l"/>
            <a:pathLst>
              <a:path h="7018067" w="6469382">
                <a:moveTo>
                  <a:pt x="0" y="0"/>
                </a:moveTo>
                <a:lnTo>
                  <a:pt x="6469381" y="0"/>
                </a:lnTo>
                <a:lnTo>
                  <a:pt x="6469381" y="7018067"/>
                </a:lnTo>
                <a:lnTo>
                  <a:pt x="0" y="70180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2210901" y="1757251"/>
            <a:ext cx="13866197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00"/>
              </a:lnSpc>
            </a:pPr>
            <a:r>
              <a:rPr lang="en-US" sz="9500" b="true">
                <a:solidFill>
                  <a:srgbClr val="FFFFFF"/>
                </a:solidFill>
                <a:latin typeface="Barlow Heavy"/>
                <a:ea typeface="Barlow Heavy"/>
                <a:cs typeface="Barlow Heavy"/>
                <a:sym typeface="Barlow Heavy"/>
              </a:rPr>
              <a:t>NYP'nin 4 Temel Prensibi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2699097" y="4630362"/>
            <a:ext cx="1239263" cy="1239263"/>
            <a:chOff x="0" y="0"/>
            <a:chExt cx="6350000" cy="6350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028700" y="6588070"/>
            <a:ext cx="4580058" cy="1186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4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Kapsülle</a:t>
            </a:r>
            <a:r>
              <a:rPr lang="en-US" sz="4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me (Encapsulation)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699097" y="4528824"/>
            <a:ext cx="1239263" cy="1204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0047"/>
              </a:lnSpc>
              <a:spcBef>
                <a:spcPct val="0"/>
              </a:spcBef>
            </a:pPr>
            <a:r>
              <a:rPr lang="en-US" sz="6399">
                <a:solidFill>
                  <a:srgbClr val="130234"/>
                </a:solidFill>
                <a:latin typeface="Raleway"/>
                <a:ea typeface="Raleway"/>
                <a:cs typeface="Raleway"/>
                <a:sym typeface="Raleway"/>
              </a:rPr>
              <a:t>🛡️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6582611" y="4630362"/>
            <a:ext cx="1239263" cy="1239263"/>
            <a:chOff x="0" y="0"/>
            <a:chExt cx="6350000" cy="63500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4912214" y="6588070"/>
            <a:ext cx="4580058" cy="1186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20"/>
              </a:lnSpc>
              <a:spcBef>
                <a:spcPct val="0"/>
              </a:spcBef>
            </a:pPr>
            <a:r>
              <a:rPr lang="en-US" sz="4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Kalıtım (Inheritance)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608560" y="4528824"/>
            <a:ext cx="1239263" cy="1204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0047"/>
              </a:lnSpc>
              <a:spcBef>
                <a:spcPct val="0"/>
              </a:spcBef>
            </a:pPr>
            <a:r>
              <a:rPr lang="en-US" sz="6399">
                <a:solidFill>
                  <a:srgbClr val="130234"/>
                </a:solidFill>
                <a:latin typeface="Raleway"/>
                <a:ea typeface="Raleway"/>
                <a:cs typeface="Raleway"/>
                <a:sym typeface="Raleway"/>
              </a:rPr>
              <a:t>👨‍👦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0466126" y="4630362"/>
            <a:ext cx="1239263" cy="1239263"/>
            <a:chOff x="0" y="0"/>
            <a:chExt cx="6350000" cy="63500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8795728" y="6588070"/>
            <a:ext cx="4580058" cy="1186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20"/>
              </a:lnSpc>
              <a:spcBef>
                <a:spcPct val="0"/>
              </a:spcBef>
            </a:pPr>
            <a:r>
              <a:rPr lang="en-US" sz="4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Çok Biçimlilik (Polymorphism)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495773" y="4528824"/>
            <a:ext cx="1239263" cy="1204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0047"/>
              </a:lnSpc>
              <a:spcBef>
                <a:spcPct val="0"/>
              </a:spcBef>
            </a:pPr>
            <a:r>
              <a:rPr lang="en-US" sz="6399">
                <a:solidFill>
                  <a:srgbClr val="130234"/>
                </a:solidFill>
                <a:latin typeface="Raleway"/>
                <a:ea typeface="Raleway"/>
                <a:cs typeface="Raleway"/>
                <a:sym typeface="Raleway"/>
              </a:rPr>
              <a:t>🎭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4349640" y="4630362"/>
            <a:ext cx="1239263" cy="1239263"/>
            <a:chOff x="0" y="0"/>
            <a:chExt cx="6350000" cy="63500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52" id="52"/>
          <p:cNvSpPr txBox="true"/>
          <p:nvPr/>
        </p:nvSpPr>
        <p:spPr>
          <a:xfrm rot="0">
            <a:off x="12679242" y="6588070"/>
            <a:ext cx="4580058" cy="1186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20"/>
              </a:lnSpc>
              <a:spcBef>
                <a:spcPct val="0"/>
              </a:spcBef>
            </a:pPr>
            <a:r>
              <a:rPr lang="en-US" sz="4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Soyutlama (Abstraction)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4349640" y="4523159"/>
            <a:ext cx="1239263" cy="1204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0047"/>
              </a:lnSpc>
              <a:spcBef>
                <a:spcPct val="0"/>
              </a:spcBef>
            </a:pPr>
            <a:r>
              <a:rPr lang="en-US" sz="6399">
                <a:solidFill>
                  <a:srgbClr val="130234"/>
                </a:solidFill>
                <a:latin typeface="Raleway"/>
                <a:ea typeface="Raleway"/>
                <a:cs typeface="Raleway"/>
                <a:sym typeface="Raleway"/>
              </a:rPr>
              <a:t>🎯</a:t>
            </a:r>
          </a:p>
        </p:txBody>
      </p:sp>
      <p:sp>
        <p:nvSpPr>
          <p:cNvPr name="Freeform 54" id="54"/>
          <p:cNvSpPr/>
          <p:nvPr/>
        </p:nvSpPr>
        <p:spPr>
          <a:xfrm flipH="false" flipV="false" rot="0">
            <a:off x="15995467" y="0"/>
            <a:ext cx="2292533" cy="2292533"/>
          </a:xfrm>
          <a:custGeom>
            <a:avLst/>
            <a:gdLst/>
            <a:ahLst/>
            <a:cxnLst/>
            <a:rect r="r" b="b" t="t" l="l"/>
            <a:pathLst>
              <a:path h="2292533" w="2292533">
                <a:moveTo>
                  <a:pt x="0" y="0"/>
                </a:moveTo>
                <a:lnTo>
                  <a:pt x="2292533" y="0"/>
                </a:lnTo>
                <a:lnTo>
                  <a:pt x="2292533" y="2292533"/>
                </a:lnTo>
                <a:lnTo>
                  <a:pt x="0" y="22925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02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421439" y="4628"/>
            <a:ext cx="13929321" cy="10282372"/>
          </a:xfrm>
          <a:custGeom>
            <a:avLst/>
            <a:gdLst/>
            <a:ahLst/>
            <a:cxnLst/>
            <a:rect r="r" b="b" t="t" l="l"/>
            <a:pathLst>
              <a:path h="10282372" w="13929321">
                <a:moveTo>
                  <a:pt x="0" y="0"/>
                </a:moveTo>
                <a:lnTo>
                  <a:pt x="13929322" y="0"/>
                </a:lnTo>
                <a:lnTo>
                  <a:pt x="13929322" y="10282372"/>
                </a:lnTo>
                <a:lnTo>
                  <a:pt x="0" y="102823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-10800000">
            <a:off x="1028700" y="9248775"/>
            <a:ext cx="16230600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028700" y="9614866"/>
            <a:ext cx="315741" cy="314467"/>
            <a:chOff x="0" y="0"/>
            <a:chExt cx="575079" cy="5727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797018" y="9614866"/>
            <a:ext cx="315741" cy="314467"/>
            <a:chOff x="0" y="0"/>
            <a:chExt cx="575079" cy="5727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943559" y="9614866"/>
            <a:ext cx="315741" cy="314467"/>
            <a:chOff x="0" y="0"/>
            <a:chExt cx="575079" cy="57275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565335" y="9614866"/>
            <a:ext cx="315741" cy="314467"/>
            <a:chOff x="0" y="0"/>
            <a:chExt cx="575079" cy="57275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333653" y="9614866"/>
            <a:ext cx="315741" cy="314467"/>
            <a:chOff x="0" y="0"/>
            <a:chExt cx="575079" cy="57275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101971" y="9614866"/>
            <a:ext cx="315741" cy="314467"/>
            <a:chOff x="0" y="0"/>
            <a:chExt cx="575079" cy="57275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870288" y="9614866"/>
            <a:ext cx="315741" cy="314467"/>
            <a:chOff x="0" y="0"/>
            <a:chExt cx="575079" cy="57275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638606" y="9614866"/>
            <a:ext cx="315741" cy="314467"/>
            <a:chOff x="0" y="0"/>
            <a:chExt cx="575079" cy="57275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406924" y="9614866"/>
            <a:ext cx="315741" cy="314467"/>
            <a:chOff x="0" y="0"/>
            <a:chExt cx="575079" cy="57275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5175242" y="9614866"/>
            <a:ext cx="315741" cy="314467"/>
            <a:chOff x="0" y="0"/>
            <a:chExt cx="575079" cy="57275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5E17EB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12584961" y="-1531430"/>
            <a:ext cx="8477909" cy="9196942"/>
          </a:xfrm>
          <a:custGeom>
            <a:avLst/>
            <a:gdLst/>
            <a:ahLst/>
            <a:cxnLst/>
            <a:rect r="r" b="b" t="t" l="l"/>
            <a:pathLst>
              <a:path h="9196942" w="8477909">
                <a:moveTo>
                  <a:pt x="0" y="0"/>
                </a:moveTo>
                <a:lnTo>
                  <a:pt x="8477908" y="0"/>
                </a:lnTo>
                <a:lnTo>
                  <a:pt x="8477908" y="9196943"/>
                </a:lnTo>
                <a:lnTo>
                  <a:pt x="0" y="91969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2210901" y="1260346"/>
            <a:ext cx="13866197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8000" b="true">
                <a:solidFill>
                  <a:srgbClr val="FFFFFF"/>
                </a:solidFill>
                <a:latin typeface="Barlow Heavy"/>
                <a:ea typeface="Barlow Heavy"/>
                <a:cs typeface="Barlow Heavy"/>
                <a:sym typeface="Barlow Heavy"/>
              </a:rPr>
              <a:t>NYP'nin Avantajları</a:t>
            </a:r>
          </a:p>
        </p:txBody>
      </p:sp>
      <p:sp>
        <p:nvSpPr>
          <p:cNvPr name="AutoShape 36" id="36"/>
          <p:cNvSpPr/>
          <p:nvPr/>
        </p:nvSpPr>
        <p:spPr>
          <a:xfrm flipH="true">
            <a:off x="4665927" y="2793656"/>
            <a:ext cx="8956146" cy="0"/>
          </a:xfrm>
          <a:prstGeom prst="line">
            <a:avLst/>
          </a:prstGeom>
          <a:ln cap="rnd" w="762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7" id="37"/>
          <p:cNvGrpSpPr/>
          <p:nvPr/>
        </p:nvGrpSpPr>
        <p:grpSpPr>
          <a:xfrm rot="0">
            <a:off x="855568" y="3603226"/>
            <a:ext cx="5055401" cy="2025807"/>
            <a:chOff x="0" y="0"/>
            <a:chExt cx="6740535" cy="2701077"/>
          </a:xfrm>
        </p:grpSpPr>
        <p:sp>
          <p:nvSpPr>
            <p:cNvPr name="TextBox 38" id="38"/>
            <p:cNvSpPr txBox="true"/>
            <p:nvPr/>
          </p:nvSpPr>
          <p:spPr>
            <a:xfrm rot="0">
              <a:off x="1275654" y="19050"/>
              <a:ext cx="4189227" cy="10965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69"/>
                </a:lnSpc>
              </a:pPr>
              <a:r>
                <a:rPr lang="en-US" b="true" sz="2881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🔄 Yeniden Kullanılabili</a:t>
              </a:r>
              <a:r>
                <a:rPr lang="en-US" b="true" sz="2881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rlik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0" y="1604538"/>
              <a:ext cx="6740535" cy="10965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22051" indent="-311026" lvl="1">
                <a:lnSpc>
                  <a:spcPts val="3169"/>
                </a:lnSpc>
                <a:buFont typeface="Arial"/>
                <a:buChar char="•"/>
              </a:pPr>
              <a:r>
                <a:rPr lang="en-US" sz="2881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Kod tekrarını önler</a:t>
              </a:r>
            </a:p>
            <a:p>
              <a:pPr algn="l" marL="622051" indent="-311026" lvl="1">
                <a:lnSpc>
                  <a:spcPts val="3169"/>
                </a:lnSpc>
                <a:buFont typeface="Arial"/>
                <a:buChar char="•"/>
              </a:pPr>
              <a:r>
                <a:rPr lang="en-US" sz="2881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Zaman</a:t>
              </a:r>
              <a:r>
                <a:rPr lang="en-US" sz="2881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 tasarrufu sağlar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616299" y="3603226"/>
            <a:ext cx="5055401" cy="2025807"/>
            <a:chOff x="0" y="0"/>
            <a:chExt cx="6740535" cy="2701077"/>
          </a:xfrm>
        </p:grpSpPr>
        <p:sp>
          <p:nvSpPr>
            <p:cNvPr name="TextBox 41" id="41"/>
            <p:cNvSpPr txBox="true"/>
            <p:nvPr/>
          </p:nvSpPr>
          <p:spPr>
            <a:xfrm rot="0">
              <a:off x="1275654" y="19050"/>
              <a:ext cx="4189227" cy="10965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69"/>
                </a:lnSpc>
              </a:pPr>
              <a:r>
                <a:rPr lang="en-US" b="true" sz="2881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🔧 Bakım Kolay</a:t>
              </a:r>
              <a:r>
                <a:rPr lang="en-US" b="true" sz="2881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lığı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0" y="1604538"/>
              <a:ext cx="6740535" cy="10965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22051" indent="-311026" lvl="1">
                <a:lnSpc>
                  <a:spcPts val="3169"/>
                </a:lnSpc>
                <a:buFont typeface="Arial"/>
                <a:buChar char="•"/>
              </a:pPr>
              <a:r>
                <a:rPr lang="en-US" sz="2881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Değişiklikler lokal kalır</a:t>
              </a:r>
            </a:p>
            <a:p>
              <a:pPr algn="l" marL="622051" indent="-311026" lvl="1">
                <a:lnSpc>
                  <a:spcPts val="3169"/>
                </a:lnSpc>
                <a:buFont typeface="Arial"/>
                <a:buChar char="•"/>
              </a:pPr>
              <a:r>
                <a:rPr lang="en-US" sz="2881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Hata</a:t>
              </a:r>
              <a:r>
                <a:rPr lang="en-US" sz="2881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 ayıklama kolaylaşır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3611375" y="6167812"/>
            <a:ext cx="5055401" cy="2309493"/>
            <a:chOff x="0" y="0"/>
            <a:chExt cx="6740535" cy="3079324"/>
          </a:xfrm>
        </p:grpSpPr>
        <p:sp>
          <p:nvSpPr>
            <p:cNvPr name="TextBox 44" id="44"/>
            <p:cNvSpPr txBox="true"/>
            <p:nvPr/>
          </p:nvSpPr>
          <p:spPr>
            <a:xfrm rot="0">
              <a:off x="1275654" y="19050"/>
              <a:ext cx="4189227" cy="10965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69"/>
                </a:lnSpc>
              </a:pPr>
              <a:r>
                <a:rPr lang="en-US" b="true" sz="2881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🌍 Gerçek Hayat Mode</a:t>
              </a:r>
              <a:r>
                <a:rPr lang="en-US" b="true" sz="2881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li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0" y="1449385"/>
              <a:ext cx="6740535" cy="16299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22051" indent="-311026" lvl="1">
                <a:lnSpc>
                  <a:spcPts val="3169"/>
                </a:lnSpc>
                <a:buFont typeface="Arial"/>
                <a:buChar char="•"/>
              </a:pPr>
              <a:r>
                <a:rPr lang="en-US" sz="2881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Problemler doğal şekilde modellenir</a:t>
              </a:r>
            </a:p>
            <a:p>
              <a:pPr algn="l" marL="622051" indent="-311026" lvl="1">
                <a:lnSpc>
                  <a:spcPts val="3169"/>
                </a:lnSpc>
                <a:buFont typeface="Arial"/>
                <a:buChar char="•"/>
              </a:pPr>
              <a:r>
                <a:rPr lang="en-US" sz="2881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Anlaşılm</a:t>
              </a:r>
              <a:r>
                <a:rPr lang="en-US" sz="2881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ası kolay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936965" y="6417590"/>
            <a:ext cx="5055401" cy="1741660"/>
            <a:chOff x="0" y="0"/>
            <a:chExt cx="6740535" cy="2322213"/>
          </a:xfrm>
        </p:grpSpPr>
        <p:sp>
          <p:nvSpPr>
            <p:cNvPr name="TextBox 47" id="47"/>
            <p:cNvSpPr txBox="true"/>
            <p:nvPr/>
          </p:nvSpPr>
          <p:spPr>
            <a:xfrm rot="0">
              <a:off x="970401" y="19050"/>
              <a:ext cx="4799733" cy="5631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69"/>
                </a:lnSpc>
              </a:pPr>
              <a:r>
                <a:rPr lang="en-US" b="true" sz="2881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📈 Ölçeklenebili</a:t>
              </a:r>
              <a:r>
                <a:rPr lang="en-US" b="true" sz="2881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rlik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0" y="1225675"/>
              <a:ext cx="6740535" cy="10965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22051" indent="-311026" lvl="1">
                <a:lnSpc>
                  <a:spcPts val="3169"/>
                </a:lnSpc>
                <a:buFont typeface="Arial"/>
                <a:buChar char="•"/>
              </a:pPr>
              <a:r>
                <a:rPr lang="en-US" sz="2881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Büyük projelere uygundur</a:t>
              </a:r>
            </a:p>
            <a:p>
              <a:pPr algn="l" marL="622051" indent="-311026" lvl="1">
                <a:lnSpc>
                  <a:spcPts val="3169"/>
                </a:lnSpc>
                <a:buFont typeface="Arial"/>
                <a:buChar char="•"/>
              </a:pPr>
              <a:r>
                <a:rPr lang="en-US" sz="2881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Sistem genişle</a:t>
              </a:r>
              <a:r>
                <a:rPr lang="en-US" sz="2881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tilebilir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377031" y="3679539"/>
            <a:ext cx="5055401" cy="1873181"/>
            <a:chOff x="0" y="0"/>
            <a:chExt cx="6740535" cy="2497575"/>
          </a:xfrm>
        </p:grpSpPr>
        <p:sp>
          <p:nvSpPr>
            <p:cNvPr name="TextBox 50" id="50"/>
            <p:cNvSpPr txBox="true"/>
            <p:nvPr/>
          </p:nvSpPr>
          <p:spPr>
            <a:xfrm rot="0">
              <a:off x="1275654" y="19050"/>
              <a:ext cx="4189227" cy="5631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69"/>
                </a:lnSpc>
              </a:pPr>
              <a:r>
                <a:rPr lang="en-US" b="true" sz="2881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🧩 Modüle</a:t>
              </a:r>
              <a:r>
                <a:rPr lang="en-US" b="true" sz="2881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rlik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0" y="867636"/>
              <a:ext cx="6740535" cy="16299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22051" indent="-311026" lvl="1">
                <a:lnSpc>
                  <a:spcPts val="3169"/>
                </a:lnSpc>
                <a:buFont typeface="Arial"/>
                <a:buChar char="•"/>
              </a:pPr>
              <a:r>
                <a:rPr lang="en-US" sz="2881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Parçalar bağımsız geliştirilir</a:t>
              </a:r>
            </a:p>
            <a:p>
              <a:pPr algn="l" marL="622051" indent="-311026" lvl="1">
                <a:lnSpc>
                  <a:spcPts val="3169"/>
                </a:lnSpc>
                <a:buFont typeface="Arial"/>
                <a:buChar char="•"/>
              </a:pPr>
              <a:r>
                <a:rPr lang="en-US" sz="2881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Takım</a:t>
              </a:r>
              <a:r>
                <a:rPr lang="en-US" sz="2881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 çalışmasına uygun</a:t>
              </a:r>
            </a:p>
          </p:txBody>
        </p:sp>
      </p:grpSp>
      <p:sp>
        <p:nvSpPr>
          <p:cNvPr name="Freeform 52" id="52"/>
          <p:cNvSpPr/>
          <p:nvPr/>
        </p:nvSpPr>
        <p:spPr>
          <a:xfrm flipH="false" flipV="false" rot="0">
            <a:off x="15995467" y="0"/>
            <a:ext cx="2292533" cy="2292533"/>
          </a:xfrm>
          <a:custGeom>
            <a:avLst/>
            <a:gdLst/>
            <a:ahLst/>
            <a:cxnLst/>
            <a:rect r="r" b="b" t="t" l="l"/>
            <a:pathLst>
              <a:path h="2292533" w="2292533">
                <a:moveTo>
                  <a:pt x="0" y="0"/>
                </a:moveTo>
                <a:lnTo>
                  <a:pt x="2292533" y="0"/>
                </a:lnTo>
                <a:lnTo>
                  <a:pt x="2292533" y="2292533"/>
                </a:lnTo>
                <a:lnTo>
                  <a:pt x="0" y="22925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02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27952" y="-693430"/>
            <a:ext cx="8914403" cy="9670457"/>
          </a:xfrm>
          <a:custGeom>
            <a:avLst/>
            <a:gdLst/>
            <a:ahLst/>
            <a:cxnLst/>
            <a:rect r="r" b="b" t="t" l="l"/>
            <a:pathLst>
              <a:path h="9670457" w="8914403">
                <a:moveTo>
                  <a:pt x="0" y="0"/>
                </a:moveTo>
                <a:lnTo>
                  <a:pt x="8914403" y="0"/>
                </a:lnTo>
                <a:lnTo>
                  <a:pt x="8914403" y="9670457"/>
                </a:lnTo>
                <a:lnTo>
                  <a:pt x="0" y="96704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-10800000">
            <a:off x="1028700" y="9248775"/>
            <a:ext cx="16230600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028700" y="9614866"/>
            <a:ext cx="315741" cy="314467"/>
            <a:chOff x="0" y="0"/>
            <a:chExt cx="575079" cy="5727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797018" y="9614866"/>
            <a:ext cx="315741" cy="314467"/>
            <a:chOff x="0" y="0"/>
            <a:chExt cx="575079" cy="5727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565335" y="9614866"/>
            <a:ext cx="315741" cy="314467"/>
            <a:chOff x="0" y="0"/>
            <a:chExt cx="575079" cy="57275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333653" y="9614866"/>
            <a:ext cx="315741" cy="314467"/>
            <a:chOff x="0" y="0"/>
            <a:chExt cx="575079" cy="57275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101971" y="9614866"/>
            <a:ext cx="315741" cy="314467"/>
            <a:chOff x="0" y="0"/>
            <a:chExt cx="575079" cy="57275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870288" y="9614866"/>
            <a:ext cx="315741" cy="314467"/>
            <a:chOff x="0" y="0"/>
            <a:chExt cx="575079" cy="57275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638606" y="9614866"/>
            <a:ext cx="315741" cy="314467"/>
            <a:chOff x="0" y="0"/>
            <a:chExt cx="575079" cy="57275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406924" y="9614866"/>
            <a:ext cx="315741" cy="314467"/>
            <a:chOff x="0" y="0"/>
            <a:chExt cx="575079" cy="57275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5175242" y="9614866"/>
            <a:ext cx="315741" cy="314467"/>
            <a:chOff x="0" y="0"/>
            <a:chExt cx="575079" cy="57275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240959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6943559" y="9614866"/>
            <a:ext cx="315741" cy="314467"/>
            <a:chOff x="0" y="0"/>
            <a:chExt cx="575079" cy="57275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75079" cy="572758"/>
            </a:xfrm>
            <a:custGeom>
              <a:avLst/>
              <a:gdLst/>
              <a:ahLst/>
              <a:cxnLst/>
              <a:rect r="r" b="b" t="t" l="l"/>
              <a:pathLst>
                <a:path h="572758" w="575079">
                  <a:moveTo>
                    <a:pt x="0" y="0"/>
                  </a:moveTo>
                  <a:lnTo>
                    <a:pt x="575079" y="0"/>
                  </a:lnTo>
                  <a:lnTo>
                    <a:pt x="575079" y="572758"/>
                  </a:lnTo>
                  <a:lnTo>
                    <a:pt x="0" y="572758"/>
                  </a:lnTo>
                  <a:close/>
                </a:path>
              </a:pathLst>
            </a:custGeom>
            <a:solidFill>
              <a:srgbClr val="5E17EB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575079" cy="58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-2806719" y="717649"/>
            <a:ext cx="7670838" cy="8321422"/>
          </a:xfrm>
          <a:custGeom>
            <a:avLst/>
            <a:gdLst/>
            <a:ahLst/>
            <a:cxnLst/>
            <a:rect r="r" b="b" t="t" l="l"/>
            <a:pathLst>
              <a:path h="8321422" w="7670838">
                <a:moveTo>
                  <a:pt x="0" y="0"/>
                </a:moveTo>
                <a:lnTo>
                  <a:pt x="7670838" y="0"/>
                </a:lnTo>
                <a:lnTo>
                  <a:pt x="7670838" y="8321422"/>
                </a:lnTo>
                <a:lnTo>
                  <a:pt x="0" y="83214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3968680" y="3182910"/>
            <a:ext cx="10350639" cy="169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1000" b="true">
                <a:solidFill>
                  <a:srgbClr val="FFFFFF"/>
                </a:solidFill>
                <a:latin typeface="Barlow Heavy"/>
                <a:ea typeface="Barlow Heavy"/>
                <a:cs typeface="Barlow Heavy"/>
                <a:sym typeface="Barlow Heavy"/>
              </a:rPr>
              <a:t>Teşekkürler!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941289" y="5570440"/>
            <a:ext cx="440542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AnkaCORE’26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941289" y="6037063"/>
            <a:ext cx="440542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ankasec.co</a:t>
            </a:r>
          </a:p>
        </p:txBody>
      </p:sp>
      <p:sp>
        <p:nvSpPr>
          <p:cNvPr name="AutoShape 38" id="38"/>
          <p:cNvSpPr/>
          <p:nvPr/>
        </p:nvSpPr>
        <p:spPr>
          <a:xfrm rot="-10800000">
            <a:off x="6060048" y="2662101"/>
            <a:ext cx="6167903" cy="0"/>
          </a:xfrm>
          <a:prstGeom prst="line">
            <a:avLst/>
          </a:prstGeom>
          <a:ln cap="rnd" w="762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9" id="39"/>
          <p:cNvSpPr/>
          <p:nvPr/>
        </p:nvSpPr>
        <p:spPr>
          <a:xfrm rot="-10800000">
            <a:off x="6060048" y="6894332"/>
            <a:ext cx="6167903" cy="0"/>
          </a:xfrm>
          <a:prstGeom prst="line">
            <a:avLst/>
          </a:prstGeom>
          <a:ln cap="rnd" w="762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0" id="40"/>
          <p:cNvSpPr/>
          <p:nvPr/>
        </p:nvSpPr>
        <p:spPr>
          <a:xfrm flipH="false" flipV="false" rot="0">
            <a:off x="15995467" y="0"/>
            <a:ext cx="2292533" cy="2292533"/>
          </a:xfrm>
          <a:custGeom>
            <a:avLst/>
            <a:gdLst/>
            <a:ahLst/>
            <a:cxnLst/>
            <a:rect r="r" b="b" t="t" l="l"/>
            <a:pathLst>
              <a:path h="2292533" w="2292533">
                <a:moveTo>
                  <a:pt x="0" y="0"/>
                </a:moveTo>
                <a:lnTo>
                  <a:pt x="2292533" y="0"/>
                </a:lnTo>
                <a:lnTo>
                  <a:pt x="2292533" y="2292533"/>
                </a:lnTo>
                <a:lnTo>
                  <a:pt x="0" y="22925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DAHA05oltUg</dc:identifier>
  <dcterms:modified xsi:type="dcterms:W3CDTF">2011-08-01T06:04:30Z</dcterms:modified>
  <cp:revision>1</cp:revision>
  <dc:title>Mavi Gradyan Profesyonel Kurumsal Sunum</dc:title>
</cp:coreProperties>
</file>